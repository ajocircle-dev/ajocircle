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76" r:id="rId22"/>
    <p:sldId id="272" r:id="rId18"/>
    <p:sldId id="285" r:id="rId31"/>
    <p:sldId id="281" r:id="rId27"/>
    <p:sldId id="274" r:id="rId20"/>
    <p:sldId id="260" r:id="rId6"/>
    <p:sldId id="266" r:id="rId1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12" Type="http://schemas.openxmlformats.org/officeDocument/2006/relationships/slide" Target="slides/slide11.xml"/><Relationship Id="rId18" Type="http://schemas.openxmlformats.org/officeDocument/2006/relationships/slide" Target="slides/slide17.xml"/><Relationship Id="rId20" Type="http://schemas.openxmlformats.org/officeDocument/2006/relationships/slide" Target="slides/slide19.xml"/><Relationship Id="rId22" Type="http://schemas.openxmlformats.org/officeDocument/2006/relationships/slide" Target="slides/slide21.xml"/><Relationship Id="rId27" Type="http://schemas.openxmlformats.org/officeDocument/2006/relationships/slide" Target="slides/slide26.xml"/><Relationship Id="rId31" Type="http://schemas.openxmlformats.org/officeDocument/2006/relationships/slide" Target="slides/slide3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we'll meet users where they already coordinate, in WhatsApp, and switch on real yield on mainnet. December is about real circles with real people in Lagos. The pilot numbers are targets, not traction. After that, repayment history becomes a reputation score, which opens the door to credit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I'm bosso, and I'm building AjoCircle solo: the Solidity contracts, the TypeScript/Next.js app, and the Mezo MUSD integration. The ask: feedback from Mezo and intros to on-ramp partners for the Lagos pilot. Contact: X @bossonormal1 · LinkedIn linkedin.com/in/ibukun-o-a9453a232 · GitHub github.com/ajocircle-dev/ajocircle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invent a new product, we encoded the one people already trust. The payout order is locked when the circle starts. No treasurer ever holds the pot: the contract pays it out the moment the last member pays. Defaults are handled by rules everyone agreed to up front, not by chasing people. And because it's in MUSD, the savings hold dollar value between rounds.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Nigeria is the beachhead. Most adults now own a phone, and a majority have an account, yet two in five still rely on informal finance, and saving through clubs is going up, not down. That's the gap AjoCircle fills: a habit people already have, moved onto a phone and denominated in MUSD. The same behaviour exists across Sub-Saharan Africa, where it's called chama or tontine, so the model travels.</a:t>
            </a:r>
          </a:p>
          <a:p>
            <a:r>
              <a:rPr lang="en-US" dirty="0"/>
              <a:t/>
            </a:r>
          </a:p>
          <a:p>
            <a:r>
              <a:rPr lang="en-US" dirty="0"/>
              <a:t>Sources:</a:t>
            </a:r>
          </a:p>
          <a:p>
            <a:r>
              <a:rPr lang="en-US" dirty="0"/>
              <a:t>Global Findex 2025, World Bank (Nigeria: pop_adult 133,329,232; con1 83.8%; account_t_d 63.3%; fin17c 28.0%. SSA excl. high income fin17c 28.1%): https://www.worldbank.org/en/publication/globalfindex/download-data</a:t>
            </a:r>
          </a:p>
          <a:p>
            <a:r>
              <a:rPr lang="en-US" dirty="0"/>
              <a:t>EFInA A2F 2023 Survey Report, p. 48 (39% / 40 million used informal financial services in 2023): https://a2f.ng/wp-content/uploads/2024/07/A2F-2023-SURVEY-REPORT-1.pdf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 also called esusu, isn't a niche. More than one in four Nigerian adults save this way, and the share is growing. EFInA counts nearly 12 million adults in savings groups and another 13 million who hand cash to a thrift collector. The habit is strong, but the system around it is fragile: a single person holds the money, and when someone stops paying after collecting, the group can only complain on WhatsApp.</a:t>
            </a:r>
          </a:p>
          <a:p>
            <a:r>
              <a:rPr lang="en-US" dirty="0"/>
              <a:t/>
            </a:r>
          </a:p>
          <a:p>
            <a:r>
              <a:rPr lang="en-US" dirty="0"/>
              <a:t>Sources:</a:t>
            </a:r>
          </a:p>
          <a:p>
            <a:r>
              <a:rPr lang="en-US" dirty="0"/>
              <a:t>Global Findex 2025, World Bank (Nigeria, fin17c: 28.0% in 2024, 24.7% in 2021): https://www.worldbank.org/en/publication/globalfindex/download-data</a:t>
            </a:r>
          </a:p>
          <a:p>
            <a:r>
              <a:rPr lang="en-US" dirty="0"/>
              <a:t>EFInA A2F 2023 Survey Report, Table 1, p. 48 (savings group 11.7M; savings/thrift collector 13.1M): https://a2f.ng/wp-content/uploads/2024/07/A2F-2023-SURVEY-REPORT-1.pdf</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running on Mezo testnet now. I'll create a three-person circle, join it from the invite link, and contribute. The last contribution triggers the payout in the same transaction. Then I let a round lapse and settle it, and you can see the collateral cover the missed payment and the member get flagged. There's no backend: the history you see is read straight from contract events.</a:t>
            </a:r>
          </a:p>
          <a:p>
            <a:r>
              <a:rPr lang="en-US" dirty="0"/>
              <a:t/>
            </a:r>
          </a:p>
          <a:p>
            <a:r>
              <a:rPr lang="en-US" dirty="0"/>
              <a:t>Contract (Mezo testnet, verified on Sourcify): 0x94A5014b54bF748660AC0D953De67416fe34ea2C</a:t>
            </a:r>
          </a:p>
          <a:p>
            <a:r>
              <a:rPr lang="en-US" dirty="0"/>
              <a:t>Links: [live app URL] · github.com/ajocircle-dev/ajocircle · explorer.test.mezo.org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circle is MUSD distribution. Real people get MUSD and use it every week. Collateral would otherwise sit idle, so on mainnet it earns in the MUSD Savings Vault and that yield goes back to the members. To be clear about where this stands: the vault exists only on mainnet, so the testnet build runs native MUSD with no yield. The mainnet adapter is tested against a fork of the real sMUSD vault. We chose the Savings Vault over the Stability Pool because a pool's principal can shrink in liquidations, and ajo money can't take that risk.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19"/>
          <p:cNvSpPr/>
          <p:nvPr/>
        </p:nvSpPr>
        <p:spPr>
          <a:xfrm>
            <a:off x="228600" y="228600"/>
            <a:ext cx="914400" cy="9829800"/>
          </a:xfrm>
          <a:prstGeom prst="roundRect">
            <a:avLst>
              <a:gd name="adj" fmla="val 50000"/>
            </a:avLst>
          </a:prstGeom>
          <a:solidFill>
            <a:srgbClr val="F7931A"/>
          </a:solidFill>
          <a:ln/>
        </p:spPr>
      </p:sp>
      <p:sp>
        <p:nvSpPr>
          <p:cNvPr id="3" name="Text 20"/>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21"/>
          <p:cNvSpPr/>
          <p:nvPr/>
        </p:nvSpPr>
        <p:spPr>
          <a:xfrm>
            <a:off x="476402" y="476402"/>
            <a:ext cx="418795" cy="418795"/>
          </a:xfrm>
          <a:prstGeom prst="ellipse">
            <a:avLst/>
          </a:prstGeom>
          <a:solidFill>
            <a:srgbClr val="FFFFFF"/>
          </a:solidFill>
          <a:ln/>
        </p:spPr>
      </p:sp>
      <p:sp>
        <p:nvSpPr>
          <p:cNvPr id="5" name="Text 26"/>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06.</a:t>
            </a:r>
            <a:endParaRPr lang="en-US" sz="1800" dirty="0"/>
          </a:p>
        </p:txBody>
      </p:sp>
      <p:sp>
        <p:nvSpPr>
          <p:cNvPr id="6" name="Shape 27"/>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057400" y="912571"/>
            <a:ext cx="4838090" cy="4838090"/>
          </a:xfrm>
          <a:prstGeom prst="rect">
            <a:avLst/>
          </a:prstGeom>
          <a:solidFill>
            <a:srgbClr val="215550"/>
          </a:solidFill>
          <a:ln>
            <a:noFill/>
          </a:ln>
        </p:spPr>
        <p:txBody>
          <a:bodyPr wrap="square" lIns="0" tIns="0" rIns="0" bIns="0" rtlCol="0" anchor="t"/>
          <a:lstStyle/>
          <a:p>
            <a:endParaRPr lang="en-US" dirty="0"/>
          </a:p>
        </p:txBody>
      </p:sp>
      <p:sp>
        <p:nvSpPr>
          <p:cNvPr id="8" name="AC 102"/>
          <p:cNvSpPr/>
          <p:nvPr/>
        </p:nvSpPr>
        <p:spPr>
          <a:xfrm>
            <a:off x="6895490" y="912571"/>
            <a:ext cx="182880" cy="4838090"/>
          </a:xfrm>
          <a:prstGeom prst="rect">
            <a:avLst/>
          </a:prstGeom>
          <a:solidFill>
            <a:srgbClr val="F7931A"/>
          </a:solidFill>
          <a:ln>
            <a:noFill/>
          </a:ln>
        </p:spPr>
        <p:txBody>
          <a:bodyPr wrap="square" lIns="0" tIns="0" rIns="0" bIns="0" rtlCol="0" anchor="t"/>
          <a:lstStyle/>
          <a:p>
            <a:endParaRPr lang="en-US" dirty="0"/>
          </a:p>
        </p:txBody>
      </p:sp>
      <p:sp>
        <p:nvSpPr>
          <p:cNvPr id="9" name="AC 103"/>
          <p:cNvSpPr/>
          <p:nvPr/>
        </p:nvSpPr>
        <p:spPr>
          <a:xfrm>
            <a:off x="7078370" y="912571"/>
            <a:ext cx="10295230" cy="4838090"/>
          </a:xfrm>
          <a:prstGeom prst="rect">
            <a:avLst/>
          </a:prstGeom>
          <a:solidFill>
            <a:srgbClr val="E9F1EF"/>
          </a:solidFill>
          <a:ln>
            <a:noFill/>
          </a:ln>
        </p:spPr>
        <p:txBody>
          <a:bodyPr wrap="square" lIns="0" tIns="0" rIns="0" bIns="0" rtlCol="0" anchor="t"/>
          <a:lstStyle/>
          <a:p>
            <a:endParaRPr lang="en-US" dirty="0"/>
          </a:p>
        </p:txBody>
      </p:sp>
      <p:sp>
        <p:nvSpPr>
          <p:cNvPr id="10" name="AC 104"/>
          <p:cNvSpPr/>
          <p:nvPr/>
        </p:nvSpPr>
        <p:spPr>
          <a:xfrm>
            <a:off x="2628900" y="2148840"/>
            <a:ext cx="3840480" cy="384048"/>
          </a:xfrm>
          <a:prstGeom prst="rect">
            <a:avLst/>
          </a:prstGeom>
          <a:noFill/>
          <a:ln>
            <a:noFill/>
          </a:ln>
        </p:spPr>
        <p:txBody>
          <a:bodyPr wrap="square" lIns="0" tIns="0" rIns="0" bIns="0" rtlCol="0" anchor="t"/>
          <a:lstStyle/>
          <a:p>
            <a:pPr algn="l" marL="0" indent="0">
              <a:spcAft>
                <a:spcPts val="0"/>
              </a:spcAft>
              <a:buNone/>
            </a:pPr>
            <a:r>
              <a:rPr lang="en-US" sz="1800" spc="100" dirty="0">
                <a:solidFill>
                  <a:srgbClr val="F7931A"/>
                </a:solidFill>
                <a:latin typeface="Poppins Medium"/>
                <a:ea typeface="Poppins Medium"/>
                <a:cs typeface="Poppins Medium"/>
              </a:rPr>
              <a:t>Roadmap</a:t>
            </a:r>
            <a:endParaRPr lang="en-US" sz="1800" dirty="0"/>
          </a:p>
        </p:txBody>
      </p:sp>
      <p:sp>
        <p:nvSpPr>
          <p:cNvPr id="11" name="AC 105"/>
          <p:cNvSpPr/>
          <p:nvPr/>
        </p:nvSpPr>
        <p:spPr>
          <a:xfrm>
            <a:off x="2628900" y="2542032"/>
            <a:ext cx="3931920" cy="1737360"/>
          </a:xfrm>
          <a:prstGeom prst="rect">
            <a:avLst/>
          </a:prstGeom>
          <a:noFill/>
          <a:ln>
            <a:noFill/>
          </a:ln>
        </p:spPr>
        <p:txBody>
          <a:bodyPr wrap="square" lIns="0" tIns="0" rIns="0" bIns="0" rtlCol="0" anchor="t"/>
          <a:lstStyle/>
          <a:p>
            <a:pPr algn="l" marL="0" indent="0">
              <a:spcAft>
                <a:spcPts val="0"/>
              </a:spcAft>
              <a:buNone/>
            </a:pPr>
            <a:r>
              <a:rPr lang="en-US" sz="4400" dirty="0">
                <a:solidFill>
                  <a:srgbClr val="FFFFFF"/>
                </a:solidFill>
                <a:latin typeface="Poppins SemiBold"/>
                <a:ea typeface="Poppins SemiBold"/>
                <a:cs typeface="Poppins SemiBold"/>
              </a:rPr>
              <a:t>Next 3 milestones</a:t>
            </a:r>
            <a:endParaRPr lang="en-US" sz="4400" dirty="0"/>
          </a:p>
        </p:txBody>
      </p:sp>
      <p:sp>
        <p:nvSpPr>
          <p:cNvPr id="12" name="AC 106"/>
          <p:cNvSpPr/>
          <p:nvPr/>
        </p:nvSpPr>
        <p:spPr>
          <a:xfrm>
            <a:off x="9006840" y="2743200"/>
            <a:ext cx="6446520" cy="0"/>
          </a:xfrm>
          <a:prstGeom prst="line">
            <a:avLst/>
          </a:prstGeom>
          <a:noFill/>
          <a:ln w="38100">
            <a:solidFill>
              <a:srgbClr val="215550"/>
            </a:solidFill>
            <a:round/>
          </a:ln>
        </p:spPr>
        <p:txBody>
          <a:bodyPr wrap="square" lIns="0" tIns="0" rIns="0" bIns="0" rtlCol="0" anchor="t"/>
          <a:lstStyle/>
          <a:p>
            <a:endParaRPr lang="en-US" dirty="0"/>
          </a:p>
        </p:txBody>
      </p:sp>
      <p:sp>
        <p:nvSpPr>
          <p:cNvPr id="13" name="AC 107"/>
          <p:cNvSpPr/>
          <p:nvPr/>
        </p:nvSpPr>
        <p:spPr>
          <a:xfrm>
            <a:off x="8229600" y="1965960"/>
            <a:ext cx="1554480" cy="1554480"/>
          </a:xfrm>
          <a:prstGeom prst="ellipse">
            <a:avLst/>
          </a:prstGeom>
          <a:solidFill>
            <a:srgbClr val="FFFFFF"/>
          </a:solidFill>
          <a:ln w="38100">
            <a:solidFill>
              <a:srgbClr val="F7931A"/>
            </a:solidFill>
            <a:round/>
          </a:ln>
        </p:spPr>
        <p:txBody>
          <a:bodyPr wrap="square" lIns="0" tIns="0" rIns="0" bIns="0" rtlCol="0" anchor="t"/>
          <a:lstStyle/>
          <a:p>
            <a:endParaRPr lang="en-US" dirty="0"/>
          </a:p>
        </p:txBody>
      </p:sp>
      <p:sp>
        <p:nvSpPr>
          <p:cNvPr id="14" name="AC 108"/>
          <p:cNvSpPr/>
          <p:nvPr/>
        </p:nvSpPr>
        <p:spPr>
          <a:xfrm>
            <a:off x="9006840" y="2304288"/>
            <a:ext cx="0" cy="164592"/>
          </a:xfrm>
          <a:prstGeom prst="line">
            <a:avLst/>
          </a:prstGeom>
          <a:noFill/>
          <a:ln w="31750">
            <a:solidFill>
              <a:srgbClr val="F7931A"/>
            </a:solidFill>
            <a:round/>
          </a:ln>
        </p:spPr>
        <p:txBody>
          <a:bodyPr wrap="square" lIns="0" tIns="0" rIns="0" bIns="0" rtlCol="0" anchor="t"/>
          <a:lstStyle/>
          <a:p>
            <a:endParaRPr lang="en-US" dirty="0"/>
          </a:p>
        </p:txBody>
      </p:sp>
      <p:sp>
        <p:nvSpPr>
          <p:cNvPr id="15" name="AC 109"/>
          <p:cNvSpPr/>
          <p:nvPr/>
        </p:nvSpPr>
        <p:spPr>
          <a:xfrm>
            <a:off x="8942832" y="2240280"/>
            <a:ext cx="128016" cy="128016"/>
          </a:xfrm>
          <a:prstGeom prst="ellipse">
            <a:avLst/>
          </a:prstGeom>
          <a:solidFill>
            <a:srgbClr val="F7931A"/>
          </a:solidFill>
          <a:ln>
            <a:noFill/>
          </a:ln>
        </p:spPr>
        <p:txBody>
          <a:bodyPr wrap="square" lIns="0" tIns="0" rIns="0" bIns="0" rtlCol="0" anchor="t"/>
          <a:lstStyle/>
          <a:p>
            <a:endParaRPr lang="en-US" dirty="0"/>
          </a:p>
        </p:txBody>
      </p:sp>
      <p:sp>
        <p:nvSpPr>
          <p:cNvPr id="16" name="AC 110"/>
          <p:cNvSpPr/>
          <p:nvPr/>
        </p:nvSpPr>
        <p:spPr>
          <a:xfrm>
            <a:off x="8622792" y="2468880"/>
            <a:ext cx="768096" cy="566928"/>
          </a:xfrm>
          <a:prstGeom prst="roundRect">
            <a:avLst>
              <a:gd name="adj" fmla="val 28000"/>
            </a:avLst>
          </a:prstGeom>
          <a:solidFill>
            <a:srgbClr val="F7931A"/>
          </a:solidFill>
          <a:ln>
            <a:noFill/>
          </a:ln>
        </p:spPr>
        <p:txBody>
          <a:bodyPr wrap="square" lIns="0" tIns="0" rIns="0" bIns="0" rtlCol="0" anchor="t"/>
          <a:lstStyle/>
          <a:p>
            <a:endParaRPr lang="en-US" dirty="0"/>
          </a:p>
        </p:txBody>
      </p:sp>
      <p:sp>
        <p:nvSpPr>
          <p:cNvPr id="17" name="AC 111"/>
          <p:cNvSpPr/>
          <p:nvPr/>
        </p:nvSpPr>
        <p:spPr>
          <a:xfrm>
            <a:off x="8778240" y="2633472"/>
            <a:ext cx="146304" cy="146304"/>
          </a:xfrm>
          <a:prstGeom prst="ellipse">
            <a:avLst/>
          </a:prstGeom>
          <a:solidFill>
            <a:srgbClr val="FFFFFF"/>
          </a:solidFill>
          <a:ln>
            <a:noFill/>
          </a:ln>
        </p:spPr>
        <p:txBody>
          <a:bodyPr wrap="square" lIns="0" tIns="0" rIns="0" bIns="0" rtlCol="0" anchor="t"/>
          <a:lstStyle/>
          <a:p>
            <a:endParaRPr lang="en-US" dirty="0"/>
          </a:p>
        </p:txBody>
      </p:sp>
      <p:sp>
        <p:nvSpPr>
          <p:cNvPr id="18" name="AC 112"/>
          <p:cNvSpPr/>
          <p:nvPr/>
        </p:nvSpPr>
        <p:spPr>
          <a:xfrm>
            <a:off x="9089136" y="2633472"/>
            <a:ext cx="146304" cy="146304"/>
          </a:xfrm>
          <a:prstGeom prst="ellipse">
            <a:avLst/>
          </a:prstGeom>
          <a:solidFill>
            <a:srgbClr val="FFFFFF"/>
          </a:solidFill>
          <a:ln>
            <a:noFill/>
          </a:ln>
        </p:spPr>
        <p:txBody>
          <a:bodyPr wrap="square" lIns="0" tIns="0" rIns="0" bIns="0" rtlCol="0" anchor="t"/>
          <a:lstStyle/>
          <a:p>
            <a:endParaRPr lang="en-US" dirty="0"/>
          </a:p>
        </p:txBody>
      </p:sp>
      <p:sp>
        <p:nvSpPr>
          <p:cNvPr id="19" name="AC 113"/>
          <p:cNvSpPr/>
          <p:nvPr/>
        </p:nvSpPr>
        <p:spPr>
          <a:xfrm>
            <a:off x="8860536" y="2852928"/>
            <a:ext cx="292608" cy="54864"/>
          </a:xfrm>
          <a:prstGeom prst="roundRect">
            <a:avLst>
              <a:gd name="adj" fmla="val 50000"/>
            </a:avLst>
          </a:prstGeom>
          <a:solidFill>
            <a:srgbClr val="FFFFFF"/>
          </a:solidFill>
          <a:ln>
            <a:noFill/>
          </a:ln>
        </p:spPr>
        <p:txBody>
          <a:bodyPr wrap="square" lIns="0" tIns="0" rIns="0" bIns="0" rtlCol="0" anchor="t"/>
          <a:lstStyle/>
          <a:p>
            <a:endParaRPr lang="en-US" dirty="0"/>
          </a:p>
        </p:txBody>
      </p:sp>
      <p:sp>
        <p:nvSpPr>
          <p:cNvPr id="20" name="AC 114"/>
          <p:cNvSpPr/>
          <p:nvPr/>
        </p:nvSpPr>
        <p:spPr>
          <a:xfrm>
            <a:off x="7543800" y="3749040"/>
            <a:ext cx="2926080" cy="457200"/>
          </a:xfrm>
          <a:prstGeom prst="rect">
            <a:avLst/>
          </a:prstGeom>
          <a:noFill/>
          <a:ln>
            <a:noFill/>
          </a:ln>
        </p:spPr>
        <p:txBody>
          <a:bodyPr wrap="square" lIns="0" tIns="0" rIns="0" bIns="0" rtlCol="0" anchor="t"/>
          <a:lstStyle/>
          <a:p>
            <a:pPr algn="ctr" marL="0" indent="0">
              <a:spcAft>
                <a:spcPts val="0"/>
              </a:spcAft>
              <a:buNone/>
            </a:pPr>
            <a:r>
              <a:rPr lang="en-US" sz="2000" dirty="0">
                <a:solidFill>
                  <a:srgbClr val="215550"/>
                </a:solidFill>
                <a:latin typeface="Poppins SemiBold"/>
                <a:ea typeface="Poppins SemiBold"/>
                <a:cs typeface="Poppins SemiBold"/>
              </a:rPr>
              <a:t>Nov 2–15</a:t>
            </a:r>
            <a:endParaRPr lang="en-US" sz="2000" dirty="0"/>
          </a:p>
        </p:txBody>
      </p:sp>
      <p:sp>
        <p:nvSpPr>
          <p:cNvPr id="21" name="AC 115"/>
          <p:cNvSpPr/>
          <p:nvPr/>
        </p:nvSpPr>
        <p:spPr>
          <a:xfrm>
            <a:off x="7543800" y="4206240"/>
            <a:ext cx="2926080" cy="411480"/>
          </a:xfrm>
          <a:prstGeom prst="rect">
            <a:avLst/>
          </a:prstGeom>
          <a:noFill/>
          <a:ln>
            <a:noFill/>
          </a:ln>
        </p:spPr>
        <p:txBody>
          <a:bodyPr wrap="square" lIns="0" tIns="0" rIns="0" bIns="0" rtlCol="0" anchor="t"/>
          <a:lstStyle/>
          <a:p>
            <a:pPr algn="ctr" marL="0" indent="0">
              <a:spcAft>
                <a:spcPts val="0"/>
              </a:spcAft>
              <a:buNone/>
            </a:pPr>
            <a:r>
              <a:rPr lang="en-US" sz="1500" dirty="0">
                <a:solidFill>
                  <a:srgbClr val="4D4D4D"/>
                </a:solidFill>
                <a:latin typeface="Lato"/>
                <a:ea typeface="Lato"/>
                <a:cs typeface="Lato"/>
              </a:rPr>
              <a:t>Wave 2</a:t>
            </a:r>
            <a:endParaRPr lang="en-US" sz="1500" dirty="0"/>
          </a:p>
        </p:txBody>
      </p:sp>
      <p:sp>
        <p:nvSpPr>
          <p:cNvPr id="22" name="AC 116"/>
          <p:cNvSpPr/>
          <p:nvPr/>
        </p:nvSpPr>
        <p:spPr>
          <a:xfrm>
            <a:off x="11448288" y="1965960"/>
            <a:ext cx="1554480" cy="1554480"/>
          </a:xfrm>
          <a:prstGeom prst="ellipse">
            <a:avLst/>
          </a:prstGeom>
          <a:solidFill>
            <a:srgbClr val="FFFFFF"/>
          </a:solidFill>
          <a:ln w="38100">
            <a:solidFill>
              <a:srgbClr val="215550"/>
            </a:solidFill>
            <a:round/>
          </a:ln>
        </p:spPr>
        <p:txBody>
          <a:bodyPr wrap="square" lIns="0" tIns="0" rIns="0" bIns="0" rtlCol="0" anchor="t"/>
          <a:lstStyle/>
          <a:p>
            <a:endParaRPr lang="en-US" dirty="0"/>
          </a:p>
        </p:txBody>
      </p:sp>
      <p:sp>
        <p:nvSpPr>
          <p:cNvPr id="23" name="AC 117"/>
          <p:cNvSpPr/>
          <p:nvPr/>
        </p:nvSpPr>
        <p:spPr>
          <a:xfrm>
            <a:off x="11928531" y="2414016"/>
            <a:ext cx="228234" cy="228234"/>
          </a:xfrm>
          <a:prstGeom prst="ellipse">
            <a:avLst/>
          </a:prstGeom>
          <a:solidFill>
            <a:srgbClr val="215550"/>
          </a:solidFill>
          <a:ln>
            <a:noFill/>
          </a:ln>
        </p:spPr>
        <p:txBody>
          <a:bodyPr wrap="square" lIns="0" tIns="0" rIns="0" bIns="0" rtlCol="0" anchor="t"/>
          <a:lstStyle/>
          <a:p>
            <a:endParaRPr lang="en-US" dirty="0"/>
          </a:p>
        </p:txBody>
      </p:sp>
      <p:sp>
        <p:nvSpPr>
          <p:cNvPr id="24" name="AC 118"/>
          <p:cNvSpPr/>
          <p:nvPr/>
        </p:nvSpPr>
        <p:spPr>
          <a:xfrm>
            <a:off x="11850624" y="2724912"/>
            <a:ext cx="384048" cy="274320"/>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25" name="AC 119"/>
          <p:cNvSpPr/>
          <p:nvPr/>
        </p:nvSpPr>
        <p:spPr>
          <a:xfrm>
            <a:off x="12294291" y="2414016"/>
            <a:ext cx="228234" cy="228234"/>
          </a:xfrm>
          <a:prstGeom prst="ellipse">
            <a:avLst/>
          </a:prstGeom>
          <a:solidFill>
            <a:srgbClr val="215550"/>
          </a:solidFill>
          <a:ln>
            <a:noFill/>
          </a:ln>
        </p:spPr>
        <p:txBody>
          <a:bodyPr wrap="square" lIns="0" tIns="0" rIns="0" bIns="0" rtlCol="0" anchor="t"/>
          <a:lstStyle/>
          <a:p>
            <a:endParaRPr lang="en-US" dirty="0"/>
          </a:p>
        </p:txBody>
      </p:sp>
      <p:sp>
        <p:nvSpPr>
          <p:cNvPr id="26" name="AC 120"/>
          <p:cNvSpPr/>
          <p:nvPr/>
        </p:nvSpPr>
        <p:spPr>
          <a:xfrm>
            <a:off x="12216384" y="2724912"/>
            <a:ext cx="384048" cy="274320"/>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27" name="AC 121"/>
          <p:cNvSpPr/>
          <p:nvPr/>
        </p:nvSpPr>
        <p:spPr>
          <a:xfrm>
            <a:off x="10762488" y="3749040"/>
            <a:ext cx="2926080" cy="457200"/>
          </a:xfrm>
          <a:prstGeom prst="rect">
            <a:avLst/>
          </a:prstGeom>
          <a:noFill/>
          <a:ln>
            <a:noFill/>
          </a:ln>
        </p:spPr>
        <p:txBody>
          <a:bodyPr wrap="square" lIns="0" tIns="0" rIns="0" bIns="0" rtlCol="0" anchor="t"/>
          <a:lstStyle/>
          <a:p>
            <a:pPr algn="ctr" marL="0" indent="0">
              <a:spcAft>
                <a:spcPts val="0"/>
              </a:spcAft>
              <a:buNone/>
            </a:pPr>
            <a:r>
              <a:rPr lang="en-US" sz="2000" dirty="0">
                <a:solidFill>
                  <a:srgbClr val="215550"/>
                </a:solidFill>
                <a:latin typeface="Poppins SemiBold"/>
                <a:ea typeface="Poppins SemiBold"/>
                <a:cs typeface="Poppins SemiBold"/>
              </a:rPr>
              <a:t>Dec</a:t>
            </a:r>
            <a:endParaRPr lang="en-US" sz="2000" dirty="0"/>
          </a:p>
        </p:txBody>
      </p:sp>
      <p:sp>
        <p:nvSpPr>
          <p:cNvPr id="28" name="AC 122"/>
          <p:cNvSpPr/>
          <p:nvPr/>
        </p:nvSpPr>
        <p:spPr>
          <a:xfrm>
            <a:off x="10762488" y="4206240"/>
            <a:ext cx="2926080" cy="411480"/>
          </a:xfrm>
          <a:prstGeom prst="rect">
            <a:avLst/>
          </a:prstGeom>
          <a:noFill/>
          <a:ln>
            <a:noFill/>
          </a:ln>
        </p:spPr>
        <p:txBody>
          <a:bodyPr wrap="square" lIns="0" tIns="0" rIns="0" bIns="0" rtlCol="0" anchor="t"/>
          <a:lstStyle/>
          <a:p>
            <a:pPr algn="ctr" marL="0" indent="0">
              <a:spcAft>
                <a:spcPts val="0"/>
              </a:spcAft>
              <a:buNone/>
            </a:pPr>
            <a:r>
              <a:rPr lang="en-US" sz="1500" dirty="0">
                <a:solidFill>
                  <a:srgbClr val="4D4D4D"/>
                </a:solidFill>
                <a:latin typeface="Lato"/>
                <a:ea typeface="Lato"/>
                <a:cs typeface="Lato"/>
              </a:rPr>
              <a:t>Lagos pilot</a:t>
            </a:r>
            <a:endParaRPr lang="en-US" sz="1500" dirty="0"/>
          </a:p>
        </p:txBody>
      </p:sp>
      <p:sp>
        <p:nvSpPr>
          <p:cNvPr id="29" name="AC 123"/>
          <p:cNvSpPr/>
          <p:nvPr/>
        </p:nvSpPr>
        <p:spPr>
          <a:xfrm>
            <a:off x="14676120" y="1965960"/>
            <a:ext cx="1554480" cy="1554480"/>
          </a:xfrm>
          <a:prstGeom prst="ellipse">
            <a:avLst/>
          </a:prstGeom>
          <a:solidFill>
            <a:srgbClr val="FFFFFF"/>
          </a:solidFill>
          <a:ln w="38100">
            <a:solidFill>
              <a:srgbClr val="215550"/>
            </a:solidFill>
            <a:round/>
          </a:ln>
        </p:spPr>
        <p:txBody>
          <a:bodyPr wrap="square" lIns="0" tIns="0" rIns="0" bIns="0" rtlCol="0" anchor="t"/>
          <a:lstStyle/>
          <a:p>
            <a:endParaRPr lang="en-US" dirty="0"/>
          </a:p>
        </p:txBody>
      </p:sp>
      <p:sp>
        <p:nvSpPr>
          <p:cNvPr id="30" name="AC 124"/>
          <p:cNvSpPr/>
          <p:nvPr/>
        </p:nvSpPr>
        <p:spPr>
          <a:xfrm>
            <a:off x="15105888" y="2322576"/>
            <a:ext cx="694944" cy="841248"/>
          </a:xfrm>
          <a:custGeom>
            <a:avLst/>
            <a:gdLst/>
            <a:ahLst/>
            <a:cxnLst/>
            <a:rect l="0" t="0" r="r" b="b"/>
            <a:pathLst>
              <a:path w="100" h="100">
                <a:moveTo>
                  <a:pt x="50" y="0"/>
                </a:moveTo>
                <a:lnTo>
                  <a:pt x="100" y="18"/>
                </a:lnTo>
                <a:lnTo>
                  <a:pt x="100" y="50"/>
                </a:lnTo>
                <a:lnTo>
                  <a:pt x="92" y="72"/>
                </a:lnTo>
                <a:lnTo>
                  <a:pt x="50" y="100"/>
                </a:lnTo>
                <a:lnTo>
                  <a:pt x="8" y="72"/>
                </a:lnTo>
                <a:lnTo>
                  <a:pt x="0" y="50"/>
                </a:lnTo>
                <a:lnTo>
                  <a:pt x="0" y="18"/>
                </a:lnTo>
                <a:close/>
              </a:path>
            </a:pathLst>
          </a:custGeom>
          <a:solidFill>
            <a:srgbClr val="215550"/>
          </a:solidFill>
          <a:ln>
            <a:noFill/>
          </a:ln>
        </p:spPr>
        <p:txBody>
          <a:bodyPr wrap="square" lIns="0" tIns="0" rIns="0" bIns="0" rtlCol="0" anchor="t"/>
          <a:lstStyle/>
          <a:p>
            <a:endParaRPr lang="en-US" dirty="0"/>
          </a:p>
        </p:txBody>
      </p:sp>
      <p:sp>
        <p:nvSpPr>
          <p:cNvPr id="31" name="AC 125"/>
          <p:cNvSpPr/>
          <p:nvPr/>
        </p:nvSpPr>
        <p:spPr>
          <a:xfrm>
            <a:off x="15307056" y="2743200"/>
            <a:ext cx="118872" cy="128016"/>
          </a:xfrm>
          <a:prstGeom prst="line">
            <a:avLst/>
          </a:prstGeom>
          <a:noFill/>
          <a:ln w="38100">
            <a:solidFill>
              <a:srgbClr val="FFFFFF"/>
            </a:solidFill>
            <a:round/>
          </a:ln>
        </p:spPr>
        <p:txBody>
          <a:bodyPr wrap="square" lIns="0" tIns="0" rIns="0" bIns="0" rtlCol="0" anchor="t"/>
          <a:lstStyle/>
          <a:p>
            <a:endParaRPr lang="en-US" dirty="0"/>
          </a:p>
        </p:txBody>
      </p:sp>
      <p:sp>
        <p:nvSpPr>
          <p:cNvPr id="32" name="AC 126"/>
          <p:cNvSpPr/>
          <p:nvPr/>
        </p:nvSpPr>
        <p:spPr>
          <a:xfrm flipV="1">
            <a:off x="15425928" y="2633472"/>
            <a:ext cx="192024" cy="237744"/>
          </a:xfrm>
          <a:prstGeom prst="line">
            <a:avLst/>
          </a:prstGeom>
          <a:noFill/>
          <a:ln w="38100">
            <a:solidFill>
              <a:srgbClr val="FFFFFF"/>
            </a:solidFill>
            <a:round/>
          </a:ln>
        </p:spPr>
        <p:txBody>
          <a:bodyPr wrap="square" lIns="0" tIns="0" rIns="0" bIns="0" rtlCol="0" anchor="t"/>
          <a:lstStyle/>
          <a:p>
            <a:endParaRPr lang="en-US" dirty="0"/>
          </a:p>
        </p:txBody>
      </p:sp>
      <p:sp>
        <p:nvSpPr>
          <p:cNvPr id="33" name="AC 127"/>
          <p:cNvSpPr/>
          <p:nvPr/>
        </p:nvSpPr>
        <p:spPr>
          <a:xfrm>
            <a:off x="13990320" y="3749040"/>
            <a:ext cx="2926080" cy="457200"/>
          </a:xfrm>
          <a:prstGeom prst="rect">
            <a:avLst/>
          </a:prstGeom>
          <a:noFill/>
          <a:ln>
            <a:noFill/>
          </a:ln>
        </p:spPr>
        <p:txBody>
          <a:bodyPr wrap="square" lIns="0" tIns="0" rIns="0" bIns="0" rtlCol="0" anchor="t"/>
          <a:lstStyle/>
          <a:p>
            <a:pPr algn="ctr" marL="0" indent="0">
              <a:spcAft>
                <a:spcPts val="0"/>
              </a:spcAft>
              <a:buNone/>
            </a:pPr>
            <a:r>
              <a:rPr lang="en-US" sz="2000" dirty="0">
                <a:solidFill>
                  <a:srgbClr val="215550"/>
                </a:solidFill>
                <a:latin typeface="Poppins SemiBold"/>
                <a:ea typeface="Poppins SemiBold"/>
                <a:cs typeface="Poppins SemiBold"/>
              </a:rPr>
              <a:t>Q1 2027</a:t>
            </a:r>
            <a:endParaRPr lang="en-US" sz="2000" dirty="0"/>
          </a:p>
        </p:txBody>
      </p:sp>
      <p:sp>
        <p:nvSpPr>
          <p:cNvPr id="34" name="AC 128"/>
          <p:cNvSpPr/>
          <p:nvPr/>
        </p:nvSpPr>
        <p:spPr>
          <a:xfrm>
            <a:off x="13990320" y="4206240"/>
            <a:ext cx="2926080" cy="411480"/>
          </a:xfrm>
          <a:prstGeom prst="rect">
            <a:avLst/>
          </a:prstGeom>
          <a:noFill/>
          <a:ln>
            <a:noFill/>
          </a:ln>
        </p:spPr>
        <p:txBody>
          <a:bodyPr wrap="square" lIns="0" tIns="0" rIns="0" bIns="0" rtlCol="0" anchor="t"/>
          <a:lstStyle/>
          <a:p>
            <a:pPr algn="ctr" marL="0" indent="0">
              <a:spcAft>
                <a:spcPts val="0"/>
              </a:spcAft>
              <a:buNone/>
            </a:pPr>
            <a:r>
              <a:rPr lang="en-US" sz="1500" dirty="0">
                <a:solidFill>
                  <a:srgbClr val="4D4D4D"/>
                </a:solidFill>
                <a:latin typeface="Lato"/>
                <a:ea typeface="Lato"/>
                <a:cs typeface="Lato"/>
              </a:rPr>
              <a:t>Reputation + audit</a:t>
            </a:r>
            <a:endParaRPr lang="en-US" sz="1500" dirty="0"/>
          </a:p>
        </p:txBody>
      </p:sp>
      <p:sp>
        <p:nvSpPr>
          <p:cNvPr id="35" name="AC 129"/>
          <p:cNvSpPr/>
          <p:nvPr/>
        </p:nvSpPr>
        <p:spPr>
          <a:xfrm>
            <a:off x="2057400" y="6355080"/>
            <a:ext cx="548640" cy="54864"/>
          </a:xfrm>
          <a:prstGeom prst="rect">
            <a:avLst/>
          </a:prstGeom>
          <a:solidFill>
            <a:srgbClr val="F7931A"/>
          </a:solidFill>
          <a:ln>
            <a:noFill/>
          </a:ln>
        </p:spPr>
        <p:txBody>
          <a:bodyPr wrap="square" lIns="0" tIns="0" rIns="0" bIns="0" rtlCol="0" anchor="t"/>
          <a:lstStyle/>
          <a:p>
            <a:endParaRPr lang="en-US" dirty="0"/>
          </a:p>
        </p:txBody>
      </p:sp>
      <p:sp>
        <p:nvSpPr>
          <p:cNvPr id="36" name="AC 130"/>
          <p:cNvSpPr/>
          <p:nvPr/>
        </p:nvSpPr>
        <p:spPr>
          <a:xfrm>
            <a:off x="2057400" y="6510528"/>
            <a:ext cx="4663440" cy="457200"/>
          </a:xfrm>
          <a:prstGeom prst="rect">
            <a:avLst/>
          </a:prstGeom>
          <a:noFill/>
          <a:ln>
            <a:noFill/>
          </a:ln>
        </p:spPr>
        <p:txBody>
          <a:bodyPr wrap="square" lIns="0" tIns="0" rIns="0" bIns="0" rtlCol="0" anchor="t"/>
          <a:lstStyle/>
          <a:p>
            <a:pPr algn="l" marL="0" indent="0">
              <a:spcAft>
                <a:spcPts val="0"/>
              </a:spcAft>
              <a:buNone/>
            </a:pPr>
            <a:r>
              <a:rPr lang="en-US" sz="2100" dirty="0">
                <a:solidFill>
                  <a:srgbClr val="215550"/>
                </a:solidFill>
                <a:latin typeface="Poppins SemiBold"/>
                <a:ea typeface="Poppins SemiBold"/>
                <a:cs typeface="Poppins SemiBold"/>
              </a:rPr>
              <a:t>1. Wave 2 (Nov 2–15)</a:t>
            </a:r>
            <a:endParaRPr lang="en-US" sz="2100" dirty="0"/>
          </a:p>
        </p:txBody>
      </p:sp>
      <p:sp>
        <p:nvSpPr>
          <p:cNvPr id="37" name="AC 131"/>
          <p:cNvSpPr/>
          <p:nvPr/>
        </p:nvSpPr>
        <p:spPr>
          <a:xfrm>
            <a:off x="2057400" y="7040880"/>
            <a:ext cx="4663440" cy="228600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4D4D4D"/>
                </a:solidFill>
                <a:latin typeface="Lato"/>
                <a:ea typeface="Lato"/>
                <a:cs typeface="Lato"/>
              </a:rPr>
              <a:t>A WhatsApp/Telegram bot for reminders, “who's paid” and invite links, plus a mainnet deploy with the sMUSD yield switched on.</a:t>
            </a:r>
            <a:endParaRPr lang="en-US" sz="1800" dirty="0"/>
          </a:p>
        </p:txBody>
      </p:sp>
      <p:sp>
        <p:nvSpPr>
          <p:cNvPr id="38" name="AC 132"/>
          <p:cNvSpPr/>
          <p:nvPr/>
        </p:nvSpPr>
        <p:spPr>
          <a:xfrm>
            <a:off x="7377379" y="6355080"/>
            <a:ext cx="548640" cy="54864"/>
          </a:xfrm>
          <a:prstGeom prst="rect">
            <a:avLst/>
          </a:prstGeom>
          <a:solidFill>
            <a:srgbClr val="F7931A"/>
          </a:solidFill>
          <a:ln>
            <a:noFill/>
          </a:ln>
        </p:spPr>
        <p:txBody>
          <a:bodyPr wrap="square" lIns="0" tIns="0" rIns="0" bIns="0" rtlCol="0" anchor="t"/>
          <a:lstStyle/>
          <a:p>
            <a:endParaRPr lang="en-US" dirty="0"/>
          </a:p>
        </p:txBody>
      </p:sp>
      <p:sp>
        <p:nvSpPr>
          <p:cNvPr id="39" name="AC 133"/>
          <p:cNvSpPr/>
          <p:nvPr/>
        </p:nvSpPr>
        <p:spPr>
          <a:xfrm>
            <a:off x="7377379" y="6510528"/>
            <a:ext cx="4663440" cy="457200"/>
          </a:xfrm>
          <a:prstGeom prst="rect">
            <a:avLst/>
          </a:prstGeom>
          <a:noFill/>
          <a:ln>
            <a:noFill/>
          </a:ln>
        </p:spPr>
        <p:txBody>
          <a:bodyPr wrap="square" lIns="0" tIns="0" rIns="0" bIns="0" rtlCol="0" anchor="t"/>
          <a:lstStyle/>
          <a:p>
            <a:pPr algn="l" marL="0" indent="0">
              <a:spcAft>
                <a:spcPts val="0"/>
              </a:spcAft>
              <a:buNone/>
            </a:pPr>
            <a:r>
              <a:rPr lang="en-US" sz="2100" dirty="0">
                <a:solidFill>
                  <a:srgbClr val="215550"/>
                </a:solidFill>
                <a:latin typeface="Poppins SemiBold"/>
                <a:ea typeface="Poppins SemiBold"/>
                <a:cs typeface="Poppins SemiBold"/>
              </a:rPr>
              <a:t>2. Pilot (Dec)</a:t>
            </a:r>
            <a:endParaRPr lang="en-US" sz="2100" dirty="0"/>
          </a:p>
        </p:txBody>
      </p:sp>
      <p:sp>
        <p:nvSpPr>
          <p:cNvPr id="40" name="AC 134"/>
          <p:cNvSpPr/>
          <p:nvPr/>
        </p:nvSpPr>
        <p:spPr>
          <a:xfrm>
            <a:off x="7377379" y="7040880"/>
            <a:ext cx="4663440" cy="228600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4D4D4D"/>
                </a:solidFill>
                <a:latin typeface="Lato"/>
                <a:ea typeface="Lato"/>
                <a:cs typeface="Lato"/>
              </a:rPr>
              <a:t>5 real ajo circles in Lagos (target of about 50 members) with naira </a:t>
            </a:r>
            <a:r>
              <a:rPr lang="en-US" sz="1800" dirty="0">
                <a:solidFill>
                  <a:srgbClr val="4D4D4D"/>
                </a:solidFill>
                <a:latin typeface="Arimo"/>
                <a:ea typeface="Arimo"/>
                <a:cs typeface="Arimo"/>
              </a:rPr>
              <a:t>↔</a:t>
            </a:r>
            <a:r>
              <a:rPr lang="en-US" sz="1800" dirty="0">
                <a:solidFill>
                  <a:srgbClr val="4D4D4D"/>
                </a:solidFill>
                <a:latin typeface="Lato"/>
                <a:ea typeface="Lato"/>
                <a:cs typeface="Lato"/>
              </a:rPr>
              <a:t> MUSD on/off-ramp partners.</a:t>
            </a:r>
            <a:endParaRPr lang="en-US" sz="1800" dirty="0"/>
          </a:p>
        </p:txBody>
      </p:sp>
      <p:sp>
        <p:nvSpPr>
          <p:cNvPr id="41" name="AC 135"/>
          <p:cNvSpPr/>
          <p:nvPr/>
        </p:nvSpPr>
        <p:spPr>
          <a:xfrm>
            <a:off x="12697358" y="6355080"/>
            <a:ext cx="548640" cy="54864"/>
          </a:xfrm>
          <a:prstGeom prst="rect">
            <a:avLst/>
          </a:prstGeom>
          <a:solidFill>
            <a:srgbClr val="F7931A"/>
          </a:solidFill>
          <a:ln>
            <a:noFill/>
          </a:ln>
        </p:spPr>
        <p:txBody>
          <a:bodyPr wrap="square" lIns="0" tIns="0" rIns="0" bIns="0" rtlCol="0" anchor="t"/>
          <a:lstStyle/>
          <a:p>
            <a:endParaRPr lang="en-US" dirty="0"/>
          </a:p>
        </p:txBody>
      </p:sp>
      <p:sp>
        <p:nvSpPr>
          <p:cNvPr id="42" name="AC 136"/>
          <p:cNvSpPr/>
          <p:nvPr/>
        </p:nvSpPr>
        <p:spPr>
          <a:xfrm>
            <a:off x="12697358" y="6510528"/>
            <a:ext cx="4663440" cy="457200"/>
          </a:xfrm>
          <a:prstGeom prst="rect">
            <a:avLst/>
          </a:prstGeom>
          <a:noFill/>
          <a:ln>
            <a:noFill/>
          </a:ln>
        </p:spPr>
        <p:txBody>
          <a:bodyPr wrap="square" lIns="0" tIns="0" rIns="0" bIns="0" rtlCol="0" anchor="t"/>
          <a:lstStyle/>
          <a:p>
            <a:pPr algn="l" marL="0" indent="0">
              <a:spcAft>
                <a:spcPts val="0"/>
              </a:spcAft>
              <a:buNone/>
            </a:pPr>
            <a:r>
              <a:rPr lang="en-US" sz="2100" dirty="0">
                <a:solidFill>
                  <a:srgbClr val="215550"/>
                </a:solidFill>
                <a:latin typeface="Poppins SemiBold"/>
                <a:ea typeface="Poppins SemiBold"/>
                <a:cs typeface="Poppins SemiBold"/>
              </a:rPr>
              <a:t>3. Q1 2027</a:t>
            </a:r>
            <a:endParaRPr lang="en-US" sz="2100" dirty="0"/>
          </a:p>
        </p:txBody>
      </p:sp>
      <p:sp>
        <p:nvSpPr>
          <p:cNvPr id="43" name="AC 137"/>
          <p:cNvSpPr/>
          <p:nvPr/>
        </p:nvSpPr>
        <p:spPr>
          <a:xfrm>
            <a:off x="12697358" y="7040880"/>
            <a:ext cx="4663440" cy="228600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4D4D4D"/>
                </a:solidFill>
                <a:latin typeface="Lato"/>
                <a:ea typeface="Lato"/>
                <a:cs typeface="Lato"/>
              </a:rPr>
              <a:t>A good-payer reputation score from repayment history, larger circles, VRF payout order, and an audit.</a:t>
            </a:r>
            <a:endParaRPr lang="en-US" sz="1800" dirty="0"/>
          </a:p>
        </p:txBody>
      </p:sp>
      <p:sp>
        <p:nvSpPr>
          <p:cNvPr id="44"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45"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15"/>
          <p:cNvSpPr/>
          <p:nvPr/>
        </p:nvSpPr>
        <p:spPr>
          <a:xfrm>
            <a:off x="228600" y="228600"/>
            <a:ext cx="914400" cy="9829800"/>
          </a:xfrm>
          <a:prstGeom prst="roundRect">
            <a:avLst>
              <a:gd name="adj" fmla="val 50000"/>
            </a:avLst>
          </a:prstGeom>
          <a:solidFill>
            <a:srgbClr val="F7931A"/>
          </a:solidFill>
          <a:ln/>
        </p:spPr>
      </p:sp>
      <p:sp>
        <p:nvSpPr>
          <p:cNvPr id="3" name="Text 16"/>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17"/>
          <p:cNvSpPr/>
          <p:nvPr/>
        </p:nvSpPr>
        <p:spPr>
          <a:xfrm>
            <a:off x="476402" y="476402"/>
            <a:ext cx="418795" cy="418795"/>
          </a:xfrm>
          <a:prstGeom prst="ellipse">
            <a:avLst/>
          </a:prstGeom>
          <a:solidFill>
            <a:srgbClr val="FFFFFF"/>
          </a:solidFill>
          <a:ln/>
        </p:spPr>
      </p:sp>
      <p:sp>
        <p:nvSpPr>
          <p:cNvPr id="5" name="Text 22"/>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07.</a:t>
            </a:r>
            <a:endParaRPr lang="en-US" sz="1800" dirty="0"/>
          </a:p>
        </p:txBody>
      </p:sp>
      <p:sp>
        <p:nvSpPr>
          <p:cNvPr id="6" name="Shape 23"/>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971800" y="914400"/>
            <a:ext cx="13487400" cy="384048"/>
          </a:xfrm>
          <a:prstGeom prst="rect">
            <a:avLst/>
          </a:prstGeom>
          <a:noFill/>
          <a:ln>
            <a:noFill/>
          </a:ln>
        </p:spPr>
        <p:txBody>
          <a:bodyPr wrap="square" lIns="0" tIns="0" rIns="0" bIns="0" rtlCol="0" anchor="t"/>
          <a:lstStyle/>
          <a:p>
            <a:pPr algn="ctr" marL="0" indent="0">
              <a:spcAft>
                <a:spcPts val="0"/>
              </a:spcAft>
              <a:buNone/>
            </a:pPr>
            <a:r>
              <a:rPr lang="en-US" sz="1800" spc="100" dirty="0">
                <a:solidFill>
                  <a:srgbClr val="F7931A"/>
                </a:solidFill>
                <a:latin typeface="Poppins Medium"/>
                <a:ea typeface="Poppins Medium"/>
                <a:cs typeface="Poppins Medium"/>
              </a:rPr>
              <a:t>Team</a:t>
            </a:r>
            <a:endParaRPr lang="en-US" sz="1800" dirty="0"/>
          </a:p>
        </p:txBody>
      </p:sp>
      <p:sp>
        <p:nvSpPr>
          <p:cNvPr id="8" name="AC 102"/>
          <p:cNvSpPr/>
          <p:nvPr/>
        </p:nvSpPr>
        <p:spPr>
          <a:xfrm>
            <a:off x="2971800" y="1280160"/>
            <a:ext cx="13487400" cy="868680"/>
          </a:xfrm>
          <a:prstGeom prst="rect">
            <a:avLst/>
          </a:prstGeom>
          <a:noFill/>
          <a:ln>
            <a:noFill/>
          </a:ln>
        </p:spPr>
        <p:txBody>
          <a:bodyPr wrap="square" lIns="0" tIns="0" rIns="0" bIns="0" rtlCol="0" anchor="t"/>
          <a:lstStyle/>
          <a:p>
            <a:pPr algn="ctr" marL="0" indent="0">
              <a:spcAft>
                <a:spcPts val="0"/>
              </a:spcAft>
              <a:buNone/>
            </a:pPr>
            <a:r>
              <a:rPr lang="en-US" sz="4400" dirty="0">
                <a:solidFill>
                  <a:srgbClr val="262626"/>
                </a:solidFill>
                <a:latin typeface="Poppins SemiBold"/>
                <a:ea typeface="Poppins SemiBold"/>
                <a:cs typeface="Poppins SemiBold"/>
              </a:rPr>
              <a:t>Who's building AjoCircle</a:t>
            </a:r>
            <a:endParaRPr lang="en-US" sz="4400" dirty="0"/>
          </a:p>
        </p:txBody>
      </p:sp>
      <p:sp>
        <p:nvSpPr>
          <p:cNvPr id="9" name="AC 103"/>
          <p:cNvSpPr/>
          <p:nvPr/>
        </p:nvSpPr>
        <p:spPr>
          <a:xfrm>
            <a:off x="2971800" y="2331720"/>
            <a:ext cx="13487400" cy="457200"/>
          </a:xfrm>
          <a:prstGeom prst="rect">
            <a:avLst/>
          </a:prstGeom>
          <a:noFill/>
          <a:ln>
            <a:noFill/>
          </a:ln>
        </p:spPr>
        <p:txBody>
          <a:bodyPr wrap="square" lIns="0" tIns="0" rIns="0" bIns="0" rtlCol="0" anchor="t"/>
          <a:lstStyle/>
          <a:p>
            <a:pPr algn="ctr" marL="0" indent="0">
              <a:spcAft>
                <a:spcPts val="0"/>
              </a:spcAft>
              <a:buNone/>
            </a:pPr>
            <a:r>
              <a:rPr lang="en-US" sz="1700" i="1" dirty="0">
                <a:solidFill>
                  <a:srgbClr val="8C8C8C"/>
                </a:solidFill>
                <a:latin typeface="Lato"/>
                <a:ea typeface="Lato"/>
                <a:cs typeface="Lato"/>
              </a:rPr>
              <a:t>Built solo, end to end: the contracts, the MUSD integration and the web app.</a:t>
            </a:r>
            <a:endParaRPr lang="en-US" sz="1700" dirty="0"/>
          </a:p>
        </p:txBody>
      </p:sp>
      <p:sp>
        <p:nvSpPr>
          <p:cNvPr id="10" name="AC 104"/>
          <p:cNvSpPr/>
          <p:nvPr/>
        </p:nvSpPr>
        <p:spPr>
          <a:xfrm>
            <a:off x="8001000" y="3291840"/>
            <a:ext cx="3429000" cy="3429000"/>
          </a:xfrm>
          <a:prstGeom prst="ellipse">
            <a:avLst/>
          </a:prstGeom>
          <a:solidFill>
            <a:srgbClr val="F7931A"/>
          </a:solidFill>
          <a:ln>
            <a:noFill/>
          </a:ln>
        </p:spPr>
        <p:txBody>
          <a:bodyPr wrap="square" lIns="0" tIns="0" rIns="0" bIns="0" rtlCol="0" anchor="t"/>
          <a:lstStyle/>
          <a:p>
            <a:endParaRPr lang="en-US" dirty="0"/>
          </a:p>
        </p:txBody>
      </p:sp>
      <p:sp>
        <p:nvSpPr>
          <p:cNvPr id="11" name="AC 105"/>
          <p:cNvSpPr/>
          <p:nvPr/>
        </p:nvSpPr>
        <p:spPr>
          <a:xfrm>
            <a:off x="8103413" y="3394253"/>
            <a:ext cx="3224174" cy="3224174"/>
          </a:xfrm>
          <a:prstGeom prst="ellipse">
            <a:avLst/>
          </a:prstGeom>
          <a:solidFill>
            <a:srgbClr val="E9F1EF"/>
          </a:solidFill>
          <a:ln>
            <a:noFill/>
          </a:ln>
        </p:spPr>
        <p:txBody>
          <a:bodyPr wrap="square" lIns="0" tIns="0" rIns="0" bIns="0" rtlCol="0" anchor="ctr"/>
          <a:lstStyle/>
          <a:p>
            <a:pPr algn="ctr"/>
            <a:r>
              <a:rPr lang="en-US" sz="14000" dirty="0">
                <a:solidFill>
                  <a:srgbClr val="215550"/>
                </a:solidFill>
                <a:latin typeface="Poppins SemiBold"/>
                <a:ea typeface="Poppins SemiBold"/>
                <a:cs typeface="Poppins SemiBold"/>
              </a:rPr>
              <a:t>B</a:t>
            </a:r>
          </a:p>
        </p:txBody>
      </p:sp>
      <p:sp>
        <p:nvSpPr>
          <p:cNvPr id="14" name="AC 108"/>
          <p:cNvSpPr/>
          <p:nvPr/>
        </p:nvSpPr>
        <p:spPr>
          <a:xfrm>
            <a:off x="7543800" y="6949440"/>
            <a:ext cx="4343400" cy="457200"/>
          </a:xfrm>
          <a:prstGeom prst="rect">
            <a:avLst/>
          </a:prstGeom>
          <a:noFill/>
          <a:ln>
            <a:noFill/>
          </a:ln>
        </p:spPr>
        <p:txBody>
          <a:bodyPr wrap="square" lIns="0" tIns="0" rIns="0" bIns="0" rtlCol="0" anchor="t"/>
          <a:lstStyle/>
          <a:p>
            <a:pPr algn="ctr" marL="0" indent="0">
              <a:spcAft>
                <a:spcPts val="0"/>
              </a:spcAft>
              <a:buNone/>
            </a:pPr>
            <a:r>
              <a:rPr lang="en-US" sz="2200" dirty="0">
                <a:solidFill>
                  <a:srgbClr val="215550"/>
                </a:solidFill>
                <a:latin typeface="Poppins SemiBold"/>
                <a:ea typeface="Poppins SemiBold"/>
                <a:cs typeface="Poppins SemiBold"/>
              </a:rPr>
              <a:t>bosso</a:t>
            </a:r>
            <a:endParaRPr lang="en-US" sz="2200" dirty="0"/>
          </a:p>
        </p:txBody>
      </p:sp>
      <p:sp>
        <p:nvSpPr>
          <p:cNvPr id="15" name="AC 109"/>
          <p:cNvSpPr/>
          <p:nvPr/>
        </p:nvSpPr>
        <p:spPr>
          <a:xfrm>
            <a:off x="7543800" y="7406640"/>
            <a:ext cx="4343400" cy="411480"/>
          </a:xfrm>
          <a:prstGeom prst="rect">
            <a:avLst/>
          </a:prstGeom>
          <a:noFill/>
          <a:ln>
            <a:noFill/>
          </a:ln>
        </p:spPr>
        <p:txBody>
          <a:bodyPr wrap="square" lIns="0" tIns="0" rIns="0" bIns="0" rtlCol="0" anchor="t"/>
          <a:lstStyle/>
          <a:p>
            <a:pPr algn="ctr" marL="0" indent="0">
              <a:spcAft>
                <a:spcPts val="0"/>
              </a:spcAft>
              <a:buNone/>
            </a:pPr>
            <a:r>
              <a:rPr lang="en-US" sz="1600" i="0" dirty="0">
                <a:solidFill>
                  <a:srgbClr val="4D4D4D"/>
                </a:solidFill>
                <a:latin typeface="Lato"/>
                <a:ea typeface="Lato"/>
                <a:cs typeface="Lato"/>
              </a:rPr>
              <a:t>Solo builder: Solidity / TS / Next.js</a:t>
            </a:r>
            <a:endParaRPr lang="en-US" sz="1600" dirty="0"/>
          </a:p>
        </p:txBody>
      </p:sp>
      <p:sp>
        <p:nvSpPr>
          <p:cNvPr id="22" name="AC 116"/>
          <p:cNvSpPr/>
          <p:nvPr/>
        </p:nvSpPr>
        <p:spPr>
          <a:xfrm>
            <a:off x="4572000" y="8183880"/>
            <a:ext cx="10287000" cy="0"/>
          </a:xfrm>
          <a:prstGeom prst="line">
            <a:avLst/>
          </a:prstGeom>
          <a:noFill/>
          <a:ln w="12700">
            <a:solidFill>
              <a:srgbClr val="E3E3E3"/>
            </a:solidFill>
            <a:round/>
          </a:ln>
        </p:spPr>
        <p:txBody>
          <a:bodyPr wrap="square" lIns="0" tIns="0" rIns="0" bIns="0" rtlCol="0" anchor="t"/>
          <a:lstStyle/>
          <a:p>
            <a:endParaRPr lang="en-US" dirty="0"/>
          </a:p>
        </p:txBody>
      </p:sp>
      <p:sp>
        <p:nvSpPr>
          <p:cNvPr id="23" name="AC 117"/>
          <p:cNvSpPr/>
          <p:nvPr/>
        </p:nvSpPr>
        <p:spPr>
          <a:xfrm>
            <a:off x="2971800" y="8366760"/>
            <a:ext cx="13487400" cy="457200"/>
          </a:xfrm>
          <a:prstGeom prst="rect">
            <a:avLst/>
          </a:prstGeom>
          <a:noFill/>
          <a:ln>
            <a:noFill/>
          </a:ln>
        </p:spPr>
        <p:txBody>
          <a:bodyPr wrap="square" lIns="0" tIns="0" rIns="0" bIns="0" rtlCol="0" anchor="t"/>
          <a:lstStyle/>
          <a:p>
            <a:pPr algn="ctr" marL="0" indent="0">
              <a:spcAft>
                <a:spcPts val="0"/>
              </a:spcAft>
              <a:buNone/>
            </a:pPr>
            <a:r>
              <a:rPr lang="en-US" sz="1700" dirty="0">
                <a:solidFill>
                  <a:srgbClr val="215550"/>
                </a:solidFill>
                <a:latin typeface="Poppins SemiBold"/>
                <a:ea typeface="Poppins SemiBold"/>
                <a:cs typeface="Poppins SemiBold"/>
              </a:rPr>
              <a:t>X </a:t>
            </a:r>
            <a:r>
              <a:rPr lang="en-US" sz="1700" dirty="0">
                <a:solidFill>
                  <a:srgbClr val="262626"/>
                </a:solidFill>
                <a:latin typeface="Lato"/>
                <a:ea typeface="Lato"/>
                <a:cs typeface="Lato"/>
              </a:rPr>
              <a:t>@bossonormal1</a:t>
            </a:r>
            <a:r>
              <a:rPr lang="en-US" sz="1700" dirty="0">
                <a:solidFill>
                  <a:srgbClr val="215550"/>
                </a:solidFill>
                <a:latin typeface="Poppins SemiBold"/>
                <a:ea typeface="Poppins SemiBold"/>
                <a:cs typeface="Poppins SemiBold"/>
              </a:rPr>
              <a:t>  ·  LinkedIn </a:t>
            </a:r>
            <a:r>
              <a:rPr lang="en-US" sz="1700" dirty="0">
                <a:solidFill>
                  <a:srgbClr val="262626"/>
                </a:solidFill>
                <a:latin typeface="Lato"/>
                <a:ea typeface="Lato"/>
                <a:cs typeface="Lato"/>
              </a:rPr>
              <a:t>linkedin.com/in/ibukun-o-a9453a232</a:t>
            </a:r>
            <a:r>
              <a:rPr lang="en-US" sz="1700" dirty="0">
                <a:solidFill>
                  <a:srgbClr val="215550"/>
                </a:solidFill>
                <a:latin typeface="Poppins SemiBold"/>
                <a:ea typeface="Poppins SemiBold"/>
                <a:cs typeface="Poppins SemiBold"/>
              </a:rPr>
              <a:t>  ·  GitHub </a:t>
            </a:r>
            <a:r>
              <a:rPr lang="en-US" sz="1700" dirty="0">
                <a:solidFill>
                  <a:srgbClr val="262626"/>
                </a:solidFill>
                <a:latin typeface="Lato"/>
                <a:ea typeface="Lato"/>
                <a:cs typeface="Lato"/>
              </a:rPr>
              <a:t>github.com/ajocircle-dev/ajocircle</a:t>
            </a:r>
            <a:endParaRPr lang="en-US" sz="1700" dirty="0"/>
          </a:p>
        </p:txBody>
      </p:sp>
      <p:sp>
        <p:nvSpPr>
          <p:cNvPr id="24"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25"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28"/>
          <p:cNvSpPr/>
          <p:nvPr/>
        </p:nvSpPr>
        <p:spPr>
          <a:xfrm>
            <a:off x="228600" y="228600"/>
            <a:ext cx="914400" cy="9829800"/>
          </a:xfrm>
          <a:prstGeom prst="roundRect">
            <a:avLst>
              <a:gd name="adj" fmla="val 50000"/>
            </a:avLst>
          </a:prstGeom>
          <a:solidFill>
            <a:srgbClr val="F7931A"/>
          </a:solidFill>
          <a:ln/>
        </p:spPr>
      </p:sp>
      <p:sp>
        <p:nvSpPr>
          <p:cNvPr id="3" name="Text 29"/>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30"/>
          <p:cNvSpPr/>
          <p:nvPr/>
        </p:nvSpPr>
        <p:spPr>
          <a:xfrm>
            <a:off x="476402" y="476402"/>
            <a:ext cx="418795" cy="418795"/>
          </a:xfrm>
          <a:prstGeom prst="ellipse">
            <a:avLst/>
          </a:prstGeom>
          <a:solidFill>
            <a:srgbClr val="FFFFFF"/>
          </a:solidFill>
          <a:ln/>
        </p:spPr>
      </p:sp>
      <p:sp>
        <p:nvSpPr>
          <p:cNvPr id="5" name="Text 35"/>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02.</a:t>
            </a:r>
            <a:endParaRPr lang="en-US" sz="1800" dirty="0"/>
          </a:p>
        </p:txBody>
      </p:sp>
      <p:sp>
        <p:nvSpPr>
          <p:cNvPr id="6" name="Shape 36"/>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057400" y="1989734"/>
            <a:ext cx="4732934" cy="2991002"/>
          </a:xfrm>
          <a:prstGeom prst="roundRect">
            <a:avLst>
              <a:gd name="adj" fmla="val 6000"/>
            </a:avLst>
          </a:prstGeom>
          <a:solidFill>
            <a:srgbClr val="F7931A"/>
          </a:solidFill>
          <a:ln>
            <a:noFill/>
          </a:ln>
        </p:spPr>
        <p:txBody>
          <a:bodyPr wrap="square" lIns="0" tIns="0" rIns="0" bIns="0" rtlCol="0" anchor="t"/>
          <a:lstStyle/>
          <a:p>
            <a:endParaRPr lang="en-US" dirty="0"/>
          </a:p>
        </p:txBody>
      </p:sp>
      <p:sp>
        <p:nvSpPr>
          <p:cNvPr id="8" name="AC 102"/>
          <p:cNvSpPr/>
          <p:nvPr/>
        </p:nvSpPr>
        <p:spPr>
          <a:xfrm>
            <a:off x="2468880" y="2373782"/>
            <a:ext cx="3931920" cy="457200"/>
          </a:xfrm>
          <a:prstGeom prst="rect">
            <a:avLst/>
          </a:prstGeom>
          <a:noFill/>
          <a:ln>
            <a:noFill/>
          </a:ln>
        </p:spPr>
        <p:txBody>
          <a:bodyPr wrap="square" lIns="0" tIns="0" rIns="0" bIns="0" rtlCol="0" anchor="t"/>
          <a:lstStyle/>
          <a:p>
            <a:pPr algn="l" marL="0" indent="0">
              <a:spcAft>
                <a:spcPts val="0"/>
              </a:spcAft>
              <a:buNone/>
            </a:pPr>
            <a:r>
              <a:rPr lang="en-US" sz="2000" dirty="0">
                <a:solidFill>
                  <a:srgbClr val="262626"/>
                </a:solidFill>
                <a:latin typeface="Poppins SemiBold"/>
                <a:ea typeface="Poppins SemiBold"/>
                <a:cs typeface="Poppins SemiBold"/>
              </a:rPr>
              <a:t>01. Join by link</a:t>
            </a:r>
            <a:endParaRPr lang="en-US" sz="2000" dirty="0"/>
          </a:p>
        </p:txBody>
      </p:sp>
      <p:sp>
        <p:nvSpPr>
          <p:cNvPr id="9" name="AC 103"/>
          <p:cNvSpPr/>
          <p:nvPr/>
        </p:nvSpPr>
        <p:spPr>
          <a:xfrm>
            <a:off x="2468880" y="2995574"/>
            <a:ext cx="3931920" cy="187452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262626"/>
                </a:solidFill>
                <a:latin typeface="Lato"/>
                <a:ea typeface="Lato"/>
                <a:cs typeface="Lato"/>
              </a:rPr>
              <a:t>Members join from one invite link and post one contribution as collateral.</a:t>
            </a:r>
            <a:endParaRPr lang="en-US" sz="1800" dirty="0"/>
          </a:p>
        </p:txBody>
      </p:sp>
      <p:sp>
        <p:nvSpPr>
          <p:cNvPr id="10" name="AC 104"/>
          <p:cNvSpPr/>
          <p:nvPr/>
        </p:nvSpPr>
        <p:spPr>
          <a:xfrm>
            <a:off x="7105802" y="1989734"/>
            <a:ext cx="4732934" cy="2991002"/>
          </a:xfrm>
          <a:prstGeom prst="roundRect">
            <a:avLst>
              <a:gd name="adj" fmla="val 6000"/>
            </a:avLst>
          </a:prstGeom>
          <a:solidFill>
            <a:srgbClr val="215550"/>
          </a:solidFill>
          <a:ln>
            <a:noFill/>
          </a:ln>
        </p:spPr>
        <p:txBody>
          <a:bodyPr wrap="square" lIns="0" tIns="0" rIns="0" bIns="0" rtlCol="0" anchor="t"/>
          <a:lstStyle/>
          <a:p>
            <a:endParaRPr lang="en-US" dirty="0"/>
          </a:p>
        </p:txBody>
      </p:sp>
      <p:sp>
        <p:nvSpPr>
          <p:cNvPr id="11" name="AC 105"/>
          <p:cNvSpPr/>
          <p:nvPr/>
        </p:nvSpPr>
        <p:spPr>
          <a:xfrm>
            <a:off x="7517282" y="2373782"/>
            <a:ext cx="3931920" cy="457200"/>
          </a:xfrm>
          <a:prstGeom prst="rect">
            <a:avLst/>
          </a:prstGeom>
          <a:noFill/>
          <a:ln>
            <a:noFill/>
          </a:ln>
        </p:spPr>
        <p:txBody>
          <a:bodyPr wrap="square" lIns="0" tIns="0" rIns="0" bIns="0" rtlCol="0" anchor="t"/>
          <a:lstStyle/>
          <a:p>
            <a:pPr algn="l" marL="0" indent="0">
              <a:spcAft>
                <a:spcPts val="0"/>
              </a:spcAft>
              <a:buNone/>
            </a:pPr>
            <a:r>
              <a:rPr lang="en-US" sz="2000" dirty="0">
                <a:solidFill>
                  <a:srgbClr val="FFFFFF"/>
                </a:solidFill>
                <a:latin typeface="Poppins SemiBold"/>
                <a:ea typeface="Poppins SemiBold"/>
                <a:cs typeface="Poppins SemiBold"/>
              </a:rPr>
              <a:t>02. Auto-payout</a:t>
            </a:r>
            <a:endParaRPr lang="en-US" sz="2000" dirty="0"/>
          </a:p>
        </p:txBody>
      </p:sp>
      <p:sp>
        <p:nvSpPr>
          <p:cNvPr id="12" name="AC 106"/>
          <p:cNvSpPr/>
          <p:nvPr/>
        </p:nvSpPr>
        <p:spPr>
          <a:xfrm>
            <a:off x="7517282" y="2995574"/>
            <a:ext cx="3931920" cy="187452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FFFFFF"/>
                </a:solidFill>
                <a:latin typeface="Lato"/>
                <a:ea typeface="Lato"/>
                <a:cs typeface="Lato"/>
              </a:rPr>
              <a:t>The last contribution of each round </a:t>
            </a:r>
            <a:r>
              <a:rPr lang="en-US" sz="1800" dirty="0">
                <a:solidFill>
                  <a:srgbClr val="FFFFFF"/>
                </a:solidFill>
                <a:latin typeface="Poppins SemiBold"/>
                <a:ea typeface="Poppins SemiBold"/>
                <a:cs typeface="Poppins SemiBold"/>
              </a:rPr>
              <a:t>pays the pot automatically</a:t>
            </a:r>
            <a:r>
              <a:rPr lang="en-US" sz="1800" dirty="0">
                <a:solidFill>
                  <a:srgbClr val="FFFFFF"/>
                </a:solidFill>
                <a:latin typeface="Lato"/>
                <a:ea typeface="Lato"/>
                <a:cs typeface="Lato"/>
              </a:rPr>
              <a:t> in the same transaction.</a:t>
            </a:r>
            <a:endParaRPr lang="en-US" sz="1800" dirty="0"/>
          </a:p>
        </p:txBody>
      </p:sp>
      <p:sp>
        <p:nvSpPr>
          <p:cNvPr id="13" name="AC 107"/>
          <p:cNvSpPr/>
          <p:nvPr/>
        </p:nvSpPr>
        <p:spPr>
          <a:xfrm>
            <a:off x="2057400" y="5306263"/>
            <a:ext cx="4732934" cy="2991002"/>
          </a:xfrm>
          <a:prstGeom prst="roundRect">
            <a:avLst>
              <a:gd name="adj" fmla="val 6000"/>
            </a:avLst>
          </a:prstGeom>
          <a:solidFill>
            <a:srgbClr val="215550"/>
          </a:solidFill>
          <a:ln>
            <a:noFill/>
          </a:ln>
        </p:spPr>
        <p:txBody>
          <a:bodyPr wrap="square" lIns="0" tIns="0" rIns="0" bIns="0" rtlCol="0" anchor="t"/>
          <a:lstStyle/>
          <a:p>
            <a:endParaRPr lang="en-US" dirty="0"/>
          </a:p>
        </p:txBody>
      </p:sp>
      <p:sp>
        <p:nvSpPr>
          <p:cNvPr id="14" name="AC 108"/>
          <p:cNvSpPr/>
          <p:nvPr/>
        </p:nvSpPr>
        <p:spPr>
          <a:xfrm>
            <a:off x="2468880" y="5690311"/>
            <a:ext cx="3931920" cy="457200"/>
          </a:xfrm>
          <a:prstGeom prst="rect">
            <a:avLst/>
          </a:prstGeom>
          <a:noFill/>
          <a:ln>
            <a:noFill/>
          </a:ln>
        </p:spPr>
        <p:txBody>
          <a:bodyPr wrap="square" lIns="0" tIns="0" rIns="0" bIns="0" rtlCol="0" anchor="t"/>
          <a:lstStyle/>
          <a:p>
            <a:pPr algn="l" marL="0" indent="0">
              <a:spcAft>
                <a:spcPts val="0"/>
              </a:spcAft>
              <a:buNone/>
            </a:pPr>
            <a:r>
              <a:rPr lang="en-US" sz="2000" dirty="0">
                <a:solidFill>
                  <a:srgbClr val="FFFFFF"/>
                </a:solidFill>
                <a:latin typeface="Poppins SemiBold"/>
                <a:ea typeface="Poppins SemiBold"/>
                <a:cs typeface="Poppins SemiBold"/>
              </a:rPr>
              <a:t>03. Missed a round</a:t>
            </a:r>
            <a:endParaRPr lang="en-US" sz="2000" dirty="0"/>
          </a:p>
        </p:txBody>
      </p:sp>
      <p:sp>
        <p:nvSpPr>
          <p:cNvPr id="15" name="AC 109"/>
          <p:cNvSpPr/>
          <p:nvPr/>
        </p:nvSpPr>
        <p:spPr>
          <a:xfrm>
            <a:off x="2468880" y="6312103"/>
            <a:ext cx="3931920" cy="1874520"/>
          </a:xfrm>
          <a:prstGeom prst="rect">
            <a:avLst/>
          </a:prstGeom>
          <a:noFill/>
          <a:ln>
            <a:noFill/>
          </a:ln>
        </p:spPr>
        <p:txBody>
          <a:bodyPr wrap="square" lIns="0" tIns="0" rIns="0" bIns="0" rtlCol="0" anchor="t"/>
          <a:lstStyle/>
          <a:p>
            <a:pPr algn="l" marL="0" indent="0">
              <a:lnSpc>
                <a:spcPct val="125000"/>
              </a:lnSpc>
              <a:spcAft>
                <a:spcPts val="0"/>
              </a:spcAft>
              <a:buNone/>
            </a:pPr>
            <a:r>
              <a:rPr lang="en-US" sz="1800" dirty="0">
                <a:solidFill>
                  <a:srgbClr val="FFFFFF"/>
                </a:solidFill>
                <a:latin typeface="Lato"/>
                <a:ea typeface="Lato"/>
                <a:cs typeface="Lato"/>
              </a:rPr>
              <a:t>If someone misses a round, anyone can settle it after the deadline: their collateral covers it and they're publicly flagged.</a:t>
            </a:r>
            <a:endParaRPr lang="en-US" sz="1800" dirty="0"/>
          </a:p>
        </p:txBody>
      </p:sp>
      <p:sp>
        <p:nvSpPr>
          <p:cNvPr id="16" name="AC 110"/>
          <p:cNvSpPr/>
          <p:nvPr/>
        </p:nvSpPr>
        <p:spPr>
          <a:xfrm>
            <a:off x="7105802" y="5306263"/>
            <a:ext cx="4732934" cy="2991002"/>
          </a:xfrm>
          <a:prstGeom prst="roundRect">
            <a:avLst>
              <a:gd name="adj" fmla="val 6000"/>
            </a:avLst>
          </a:prstGeom>
          <a:solidFill>
            <a:srgbClr val="F7931A"/>
          </a:solidFill>
          <a:ln>
            <a:noFill/>
          </a:ln>
        </p:spPr>
        <p:txBody>
          <a:bodyPr wrap="square" lIns="0" tIns="0" rIns="0" bIns="0" rtlCol="0" anchor="t"/>
          <a:lstStyle/>
          <a:p>
            <a:endParaRPr lang="en-US" dirty="0"/>
          </a:p>
        </p:txBody>
      </p:sp>
      <p:sp>
        <p:nvSpPr>
          <p:cNvPr id="17" name="AC 111"/>
          <p:cNvSpPr/>
          <p:nvPr/>
        </p:nvSpPr>
        <p:spPr>
          <a:xfrm>
            <a:off x="8512150" y="5845759"/>
            <a:ext cx="1920240" cy="1920240"/>
          </a:xfrm>
          <a:prstGeom prst="ellipse">
            <a:avLst/>
          </a:prstGeom>
          <a:noFill/>
          <a:ln w="31750">
            <a:solidFill>
              <a:srgbClr val="FFFFFF"/>
            </a:solidFill>
            <a:prstDash val="dash"/>
            <a:round/>
          </a:ln>
        </p:spPr>
        <p:txBody>
          <a:bodyPr wrap="square" lIns="0" tIns="0" rIns="0" bIns="0" rtlCol="0" anchor="t"/>
          <a:lstStyle/>
          <a:p>
            <a:endParaRPr lang="en-US" dirty="0"/>
          </a:p>
        </p:txBody>
      </p:sp>
      <p:sp>
        <p:nvSpPr>
          <p:cNvPr id="18" name="AC 112"/>
          <p:cNvSpPr/>
          <p:nvPr/>
        </p:nvSpPr>
        <p:spPr>
          <a:xfrm>
            <a:off x="9083650" y="5457139"/>
            <a:ext cx="777240" cy="777240"/>
          </a:xfrm>
          <a:prstGeom prst="ellipse">
            <a:avLst/>
          </a:prstGeom>
          <a:solidFill>
            <a:srgbClr val="FFFFFF"/>
          </a:solidFill>
          <a:ln>
            <a:noFill/>
          </a:ln>
        </p:spPr>
        <p:txBody>
          <a:bodyPr wrap="square" lIns="0" tIns="0" rIns="0" bIns="0" rtlCol="0" anchor="t"/>
          <a:lstStyle/>
          <a:p>
            <a:endParaRPr lang="en-US" dirty="0"/>
          </a:p>
        </p:txBody>
      </p:sp>
      <p:sp>
        <p:nvSpPr>
          <p:cNvPr id="19" name="AC 113"/>
          <p:cNvSpPr/>
          <p:nvPr/>
        </p:nvSpPr>
        <p:spPr>
          <a:xfrm>
            <a:off x="9355684" y="5612587"/>
            <a:ext cx="233172" cy="233172"/>
          </a:xfrm>
          <a:prstGeom prst="ellipse">
            <a:avLst/>
          </a:prstGeom>
          <a:solidFill>
            <a:srgbClr val="215550"/>
          </a:solidFill>
          <a:ln>
            <a:noFill/>
          </a:ln>
        </p:spPr>
        <p:txBody>
          <a:bodyPr wrap="square" lIns="0" tIns="0" rIns="0" bIns="0" rtlCol="0" anchor="t"/>
          <a:lstStyle/>
          <a:p>
            <a:endParaRPr lang="en-US" dirty="0"/>
          </a:p>
        </p:txBody>
      </p:sp>
      <p:sp>
        <p:nvSpPr>
          <p:cNvPr id="20" name="AC 114"/>
          <p:cNvSpPr/>
          <p:nvPr/>
        </p:nvSpPr>
        <p:spPr>
          <a:xfrm>
            <a:off x="9270187" y="5876849"/>
            <a:ext cx="404165" cy="202082"/>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21" name="AC 115"/>
          <p:cNvSpPr/>
          <p:nvPr/>
        </p:nvSpPr>
        <p:spPr>
          <a:xfrm>
            <a:off x="9915138" y="6897319"/>
            <a:ext cx="777240" cy="777240"/>
          </a:xfrm>
          <a:prstGeom prst="ellipse">
            <a:avLst/>
          </a:prstGeom>
          <a:solidFill>
            <a:srgbClr val="FFFFFF"/>
          </a:solidFill>
          <a:ln>
            <a:noFill/>
          </a:ln>
        </p:spPr>
        <p:txBody>
          <a:bodyPr wrap="square" lIns="0" tIns="0" rIns="0" bIns="0" rtlCol="0" anchor="t"/>
          <a:lstStyle/>
          <a:p>
            <a:endParaRPr lang="en-US" dirty="0"/>
          </a:p>
        </p:txBody>
      </p:sp>
      <p:sp>
        <p:nvSpPr>
          <p:cNvPr id="22" name="AC 116"/>
          <p:cNvSpPr/>
          <p:nvPr/>
        </p:nvSpPr>
        <p:spPr>
          <a:xfrm>
            <a:off x="10187172" y="7052767"/>
            <a:ext cx="233172" cy="233172"/>
          </a:xfrm>
          <a:prstGeom prst="ellipse">
            <a:avLst/>
          </a:prstGeom>
          <a:solidFill>
            <a:srgbClr val="215550"/>
          </a:solidFill>
          <a:ln>
            <a:noFill/>
          </a:ln>
        </p:spPr>
        <p:txBody>
          <a:bodyPr wrap="square" lIns="0" tIns="0" rIns="0" bIns="0" rtlCol="0" anchor="t"/>
          <a:lstStyle/>
          <a:p>
            <a:endParaRPr lang="en-US" dirty="0"/>
          </a:p>
        </p:txBody>
      </p:sp>
      <p:sp>
        <p:nvSpPr>
          <p:cNvPr id="23" name="AC 117"/>
          <p:cNvSpPr/>
          <p:nvPr/>
        </p:nvSpPr>
        <p:spPr>
          <a:xfrm>
            <a:off x="10101676" y="7317029"/>
            <a:ext cx="404165" cy="202082"/>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24" name="AC 118"/>
          <p:cNvSpPr/>
          <p:nvPr/>
        </p:nvSpPr>
        <p:spPr>
          <a:xfrm>
            <a:off x="8252161" y="6897319"/>
            <a:ext cx="777240" cy="777240"/>
          </a:xfrm>
          <a:prstGeom prst="ellipse">
            <a:avLst/>
          </a:prstGeom>
          <a:solidFill>
            <a:srgbClr val="FFFFFF"/>
          </a:solidFill>
          <a:ln>
            <a:noFill/>
          </a:ln>
        </p:spPr>
        <p:txBody>
          <a:bodyPr wrap="square" lIns="0" tIns="0" rIns="0" bIns="0" rtlCol="0" anchor="t"/>
          <a:lstStyle/>
          <a:p>
            <a:endParaRPr lang="en-US" dirty="0"/>
          </a:p>
        </p:txBody>
      </p:sp>
      <p:sp>
        <p:nvSpPr>
          <p:cNvPr id="25" name="AC 119"/>
          <p:cNvSpPr/>
          <p:nvPr/>
        </p:nvSpPr>
        <p:spPr>
          <a:xfrm>
            <a:off x="8524195" y="7052767"/>
            <a:ext cx="233172" cy="233172"/>
          </a:xfrm>
          <a:prstGeom prst="ellipse">
            <a:avLst/>
          </a:prstGeom>
          <a:solidFill>
            <a:srgbClr val="215550"/>
          </a:solidFill>
          <a:ln>
            <a:noFill/>
          </a:ln>
        </p:spPr>
        <p:txBody>
          <a:bodyPr wrap="square" lIns="0" tIns="0" rIns="0" bIns="0" rtlCol="0" anchor="t"/>
          <a:lstStyle/>
          <a:p>
            <a:endParaRPr lang="en-US" dirty="0"/>
          </a:p>
        </p:txBody>
      </p:sp>
      <p:sp>
        <p:nvSpPr>
          <p:cNvPr id="26" name="AC 120"/>
          <p:cNvSpPr/>
          <p:nvPr/>
        </p:nvSpPr>
        <p:spPr>
          <a:xfrm>
            <a:off x="8438699" y="7317029"/>
            <a:ext cx="404165" cy="202082"/>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27" name="AC 121"/>
          <p:cNvSpPr/>
          <p:nvPr/>
        </p:nvSpPr>
        <p:spPr>
          <a:xfrm>
            <a:off x="9088222" y="6421831"/>
            <a:ext cx="768096" cy="768096"/>
          </a:xfrm>
          <a:prstGeom prst="ellipse">
            <a:avLst/>
          </a:prstGeom>
          <a:solidFill>
            <a:srgbClr val="215550"/>
          </a:solidFill>
          <a:ln w="25400">
            <a:solidFill>
              <a:srgbClr val="163C39"/>
            </a:solidFill>
            <a:round/>
          </a:ln>
        </p:spPr>
        <p:txBody>
          <a:bodyPr wrap="square" lIns="0" tIns="0" rIns="0" bIns="0" rtlCol="0" anchor="t"/>
          <a:lstStyle/>
          <a:p>
            <a:endParaRPr lang="en-US" dirty="0"/>
          </a:p>
        </p:txBody>
      </p:sp>
      <p:sp>
        <p:nvSpPr>
          <p:cNvPr id="28" name="AC 122"/>
          <p:cNvSpPr/>
          <p:nvPr/>
        </p:nvSpPr>
        <p:spPr>
          <a:xfrm>
            <a:off x="9195755" y="6529365"/>
            <a:ext cx="553029" cy="553029"/>
          </a:xfrm>
          <a:prstGeom prst="ellipse">
            <a:avLst/>
          </a:prstGeom>
          <a:noFill/>
          <a:ln w="15875">
            <a:solidFill>
              <a:srgbClr val="FFFFFF"/>
            </a:solidFill>
            <a:round/>
          </a:ln>
        </p:spPr>
        <p:txBody>
          <a:bodyPr wrap="square" lIns="0" tIns="0" rIns="0" bIns="0" rtlCol="0" anchor="t"/>
          <a:lstStyle/>
          <a:p>
            <a:endParaRPr lang="en-US" dirty="0"/>
          </a:p>
        </p:txBody>
      </p:sp>
      <p:sp>
        <p:nvSpPr>
          <p:cNvPr id="29" name="AC 123"/>
          <p:cNvSpPr/>
          <p:nvPr/>
        </p:nvSpPr>
        <p:spPr>
          <a:xfrm>
            <a:off x="9088222" y="6421831"/>
            <a:ext cx="768096" cy="768096"/>
          </a:xfrm>
          <a:prstGeom prst="rect">
            <a:avLst/>
          </a:prstGeom>
          <a:noFill/>
          <a:ln>
            <a:noFill/>
          </a:ln>
        </p:spPr>
        <p:txBody>
          <a:bodyPr wrap="square" lIns="0" tIns="0" rIns="0" bIns="0" rtlCol="0" anchor="ctr"/>
          <a:lstStyle/>
          <a:p>
            <a:pPr algn="ctr" marL="0" indent="0">
              <a:spcAft>
                <a:spcPts val="0"/>
              </a:spcAft>
              <a:buNone/>
            </a:pPr>
            <a:r>
              <a:rPr lang="en-US" sz="1000" dirty="0">
                <a:solidFill>
                  <a:srgbClr val="FFFFFF"/>
                </a:solidFill>
                <a:latin typeface="Poppins SemiBold"/>
                <a:ea typeface="Poppins SemiBold"/>
                <a:cs typeface="Poppins SemiBold"/>
              </a:rPr>
              <a:t>MUSD</a:t>
            </a:r>
            <a:endParaRPr lang="en-US" sz="1000" dirty="0"/>
          </a:p>
        </p:txBody>
      </p:sp>
      <p:sp>
        <p:nvSpPr>
          <p:cNvPr id="30" name="AC 124"/>
          <p:cNvSpPr/>
          <p:nvPr/>
        </p:nvSpPr>
        <p:spPr>
          <a:xfrm>
            <a:off x="12664440" y="2514600"/>
            <a:ext cx="4709160" cy="384048"/>
          </a:xfrm>
          <a:prstGeom prst="rect">
            <a:avLst/>
          </a:prstGeom>
          <a:noFill/>
          <a:ln>
            <a:noFill/>
          </a:ln>
        </p:spPr>
        <p:txBody>
          <a:bodyPr wrap="square" lIns="0" tIns="0" rIns="0" bIns="0" rtlCol="0" anchor="t"/>
          <a:lstStyle/>
          <a:p>
            <a:pPr algn="l" marL="0" indent="0">
              <a:spcAft>
                <a:spcPts val="0"/>
              </a:spcAft>
              <a:buNone/>
            </a:pPr>
            <a:r>
              <a:rPr lang="en-US" sz="1800" spc="100" dirty="0">
                <a:solidFill>
                  <a:srgbClr val="F7931A"/>
                </a:solidFill>
                <a:latin typeface="Poppins Medium"/>
                <a:ea typeface="Poppins Medium"/>
                <a:cs typeface="Poppins Medium"/>
              </a:rPr>
              <a:t>The solution</a:t>
            </a:r>
            <a:endParaRPr lang="en-US" sz="1800" dirty="0"/>
          </a:p>
        </p:txBody>
      </p:sp>
      <p:sp>
        <p:nvSpPr>
          <p:cNvPr id="31" name="AC 125"/>
          <p:cNvSpPr/>
          <p:nvPr/>
        </p:nvSpPr>
        <p:spPr>
          <a:xfrm>
            <a:off x="12664440" y="2880360"/>
            <a:ext cx="4709160" cy="1828800"/>
          </a:xfrm>
          <a:prstGeom prst="rect">
            <a:avLst/>
          </a:prstGeom>
          <a:noFill/>
          <a:ln>
            <a:noFill/>
          </a:ln>
        </p:spPr>
        <p:txBody>
          <a:bodyPr wrap="square" lIns="0" tIns="0" rIns="0" bIns="0" rtlCol="0" anchor="t"/>
          <a:lstStyle/>
          <a:p>
            <a:pPr algn="l" marL="0" indent="0">
              <a:spcAft>
                <a:spcPts val="0"/>
              </a:spcAft>
              <a:buNone/>
            </a:pPr>
            <a:r>
              <a:rPr lang="en-US" sz="3400" dirty="0">
                <a:solidFill>
                  <a:srgbClr val="262626"/>
                </a:solidFill>
                <a:latin typeface="Poppins SemiBold"/>
                <a:ea typeface="Poppins SemiBold"/>
                <a:cs typeface="Poppins SemiBold"/>
              </a:rPr>
              <a:t>AjoCircle: the same circle, enforced by code</a:t>
            </a:r>
            <a:endParaRPr lang="en-US" sz="3400" dirty="0"/>
          </a:p>
        </p:txBody>
      </p:sp>
      <p:sp>
        <p:nvSpPr>
          <p:cNvPr id="32" name="AC 126"/>
          <p:cNvSpPr/>
          <p:nvPr/>
        </p:nvSpPr>
        <p:spPr>
          <a:xfrm>
            <a:off x="12664440" y="4846320"/>
            <a:ext cx="4709160" cy="1280160"/>
          </a:xfrm>
          <a:prstGeom prst="rect">
            <a:avLst/>
          </a:prstGeom>
          <a:noFill/>
          <a:ln>
            <a:noFill/>
          </a:ln>
        </p:spPr>
        <p:txBody>
          <a:bodyPr wrap="square" lIns="0" tIns="0" rIns="0" bIns="0" rtlCol="0" anchor="t"/>
          <a:lstStyle/>
          <a:p>
            <a:pPr algn="l" marL="0" indent="0">
              <a:lnSpc>
                <a:spcPct val="120000"/>
              </a:lnSpc>
              <a:spcAft>
                <a:spcPts val="0"/>
              </a:spcAft>
              <a:buNone/>
            </a:pPr>
            <a:r>
              <a:rPr lang="en-US" sz="1600" dirty="0">
                <a:solidFill>
                  <a:srgbClr val="4D4D4D"/>
                </a:solidFill>
                <a:latin typeface="Lato"/>
                <a:ea typeface="Lato"/>
                <a:cs typeface="Lato"/>
              </a:rPr>
              <a:t>Your community's ajo, run by a smart contract on Mezo, with every contribution held in </a:t>
            </a:r>
            <a:r>
              <a:rPr lang="en-US" sz="1600" dirty="0">
                <a:solidFill>
                  <a:srgbClr val="215550"/>
                </a:solidFill>
                <a:latin typeface="Poppins SemiBold"/>
                <a:ea typeface="Poppins SemiBold"/>
                <a:cs typeface="Poppins SemiBold"/>
              </a:rPr>
              <a:t>MUSD</a:t>
            </a:r>
            <a:r>
              <a:rPr lang="en-US" sz="1600" dirty="0">
                <a:solidFill>
                  <a:srgbClr val="4D4D4D"/>
                </a:solidFill>
                <a:latin typeface="Lato"/>
                <a:ea typeface="Lato"/>
                <a:cs typeface="Lato"/>
              </a:rPr>
              <a:t> (BTC-backed dollars).</a:t>
            </a:r>
            <a:endParaRPr lang="en-US" sz="1600" dirty="0"/>
          </a:p>
        </p:txBody>
      </p:sp>
      <p:sp>
        <p:nvSpPr>
          <p:cNvPr id="33" name="AC 127"/>
          <p:cNvSpPr/>
          <p:nvPr/>
        </p:nvSpPr>
        <p:spPr>
          <a:xfrm>
            <a:off x="12664440" y="6263640"/>
            <a:ext cx="4709160" cy="457200"/>
          </a:xfrm>
          <a:prstGeom prst="rect">
            <a:avLst/>
          </a:prstGeom>
          <a:noFill/>
          <a:ln>
            <a:noFill/>
          </a:ln>
        </p:spPr>
        <p:txBody>
          <a:bodyPr wrap="square" lIns="0" tIns="0" rIns="0" bIns="0" rtlCol="0" anchor="t"/>
          <a:lstStyle/>
          <a:p>
            <a:pPr algn="l" marL="0" indent="0">
              <a:spcAft>
                <a:spcPts val="0"/>
              </a:spcAft>
              <a:buNone/>
            </a:pPr>
            <a:r>
              <a:rPr lang="en-US" sz="1700" dirty="0">
                <a:solidFill>
                  <a:srgbClr val="215550"/>
                </a:solidFill>
                <a:latin typeface="Poppins SemiBold"/>
                <a:ea typeface="Poppins SemiBold"/>
                <a:cs typeface="Poppins SemiBold"/>
              </a:rPr>
              <a:t>Create </a:t>
            </a:r>
            <a:r>
              <a:rPr lang="en-US" sz="1700" dirty="0">
                <a:solidFill>
                  <a:srgbClr val="215550"/>
                </a:solidFill>
                <a:latin typeface="Arimo"/>
                <a:ea typeface="Arimo"/>
                <a:cs typeface="Arimo"/>
              </a:rPr>
              <a:t>→</a:t>
            </a:r>
            <a:r>
              <a:rPr lang="en-US" sz="1700" dirty="0">
                <a:solidFill>
                  <a:srgbClr val="215550"/>
                </a:solidFill>
                <a:latin typeface="Poppins SemiBold"/>
                <a:ea typeface="Poppins SemiBold"/>
                <a:cs typeface="Poppins SemiBold"/>
              </a:rPr>
              <a:t> Join </a:t>
            </a:r>
            <a:r>
              <a:rPr lang="en-US" sz="1700" dirty="0">
                <a:solidFill>
                  <a:srgbClr val="215550"/>
                </a:solidFill>
                <a:latin typeface="Arimo"/>
                <a:ea typeface="Arimo"/>
                <a:cs typeface="Arimo"/>
              </a:rPr>
              <a:t>→</a:t>
            </a:r>
            <a:r>
              <a:rPr lang="en-US" sz="1700" dirty="0">
                <a:solidFill>
                  <a:srgbClr val="215550"/>
                </a:solidFill>
                <a:latin typeface="Poppins SemiBold"/>
                <a:ea typeface="Poppins SemiBold"/>
                <a:cs typeface="Poppins SemiBold"/>
              </a:rPr>
              <a:t> Contribute </a:t>
            </a:r>
            <a:r>
              <a:rPr lang="en-US" sz="1700" dirty="0">
                <a:solidFill>
                  <a:srgbClr val="215550"/>
                </a:solidFill>
                <a:latin typeface="Arimo"/>
                <a:ea typeface="Arimo"/>
                <a:cs typeface="Arimo"/>
              </a:rPr>
              <a:t>→</a:t>
            </a:r>
            <a:r>
              <a:rPr lang="en-US" sz="1700" dirty="0">
                <a:solidFill>
                  <a:srgbClr val="215550"/>
                </a:solidFill>
                <a:latin typeface="Poppins SemiBold"/>
                <a:ea typeface="Poppins SemiBold"/>
                <a:cs typeface="Poppins SemiBold"/>
              </a:rPr>
              <a:t> Close</a:t>
            </a:r>
            <a:endParaRPr lang="en-US" sz="1700" dirty="0"/>
          </a:p>
        </p:txBody>
      </p:sp>
      <p:sp>
        <p:nvSpPr>
          <p:cNvPr id="34" name="AC 128"/>
          <p:cNvSpPr/>
          <p:nvPr/>
        </p:nvSpPr>
        <p:spPr>
          <a:xfrm>
            <a:off x="12664440" y="6766560"/>
            <a:ext cx="822960" cy="54864"/>
          </a:xfrm>
          <a:prstGeom prst="rect">
            <a:avLst/>
          </a:prstGeom>
          <a:solidFill>
            <a:srgbClr val="F7931A"/>
          </a:solidFill>
          <a:ln>
            <a:noFill/>
          </a:ln>
        </p:spPr>
        <p:txBody>
          <a:bodyPr wrap="square" lIns="0" tIns="0" rIns="0" bIns="0" rtlCol="0" anchor="t"/>
          <a:lstStyle/>
          <a:p>
            <a:endParaRPr lang="en-US" dirty="0"/>
          </a:p>
        </p:txBody>
      </p:sp>
      <p:sp>
        <p:nvSpPr>
          <p:cNvPr id="35"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36"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12"/>
          <p:cNvSpPr/>
          <p:nvPr/>
        </p:nvSpPr>
        <p:spPr>
          <a:xfrm>
            <a:off x="228600" y="228600"/>
            <a:ext cx="914400" cy="9829800"/>
          </a:xfrm>
          <a:prstGeom prst="roundRect">
            <a:avLst>
              <a:gd name="adj" fmla="val 50000"/>
            </a:avLst>
          </a:prstGeom>
          <a:solidFill>
            <a:srgbClr val="F7931A"/>
          </a:solidFill>
          <a:ln/>
        </p:spPr>
      </p:sp>
      <p:sp>
        <p:nvSpPr>
          <p:cNvPr id="3" name="Text 13"/>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14"/>
          <p:cNvSpPr/>
          <p:nvPr/>
        </p:nvSpPr>
        <p:spPr>
          <a:xfrm>
            <a:off x="476402" y="476402"/>
            <a:ext cx="418795" cy="418795"/>
          </a:xfrm>
          <a:prstGeom prst="ellipse">
            <a:avLst/>
          </a:prstGeom>
          <a:solidFill>
            <a:srgbClr val="FFFFFF"/>
          </a:solidFill>
          <a:ln/>
        </p:spPr>
      </p:sp>
      <p:sp>
        <p:nvSpPr>
          <p:cNvPr id="5" name="Text 19"/>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05.</a:t>
            </a:r>
            <a:endParaRPr lang="en-US" sz="1800" dirty="0"/>
          </a:p>
        </p:txBody>
      </p:sp>
      <p:sp>
        <p:nvSpPr>
          <p:cNvPr id="6" name="Shape 20"/>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971800" y="2240280"/>
            <a:ext cx="6492240" cy="384048"/>
          </a:xfrm>
          <a:prstGeom prst="rect">
            <a:avLst/>
          </a:prstGeom>
          <a:noFill/>
          <a:ln>
            <a:noFill/>
          </a:ln>
        </p:spPr>
        <p:txBody>
          <a:bodyPr wrap="square" lIns="0" tIns="0" rIns="0" bIns="0" rtlCol="0" anchor="t"/>
          <a:lstStyle/>
          <a:p>
            <a:pPr algn="l" marL="0" indent="0">
              <a:spcAft>
                <a:spcPts val="0"/>
              </a:spcAft>
              <a:buNone/>
            </a:pPr>
            <a:r>
              <a:rPr lang="en-US" sz="1800" spc="100" dirty="0">
                <a:solidFill>
                  <a:srgbClr val="F7931A"/>
                </a:solidFill>
                <a:latin typeface="Poppins Medium"/>
                <a:ea typeface="Poppins Medium"/>
                <a:cs typeface="Poppins Medium"/>
              </a:rPr>
              <a:t>Market</a:t>
            </a:r>
            <a:endParaRPr lang="en-US" sz="1800" dirty="0"/>
          </a:p>
        </p:txBody>
      </p:sp>
      <p:sp>
        <p:nvSpPr>
          <p:cNvPr id="8" name="AC 102"/>
          <p:cNvSpPr/>
          <p:nvPr/>
        </p:nvSpPr>
        <p:spPr>
          <a:xfrm>
            <a:off x="2971800" y="2606040"/>
            <a:ext cx="6492240" cy="868680"/>
          </a:xfrm>
          <a:prstGeom prst="rect">
            <a:avLst/>
          </a:prstGeom>
          <a:noFill/>
          <a:ln>
            <a:noFill/>
          </a:ln>
        </p:spPr>
        <p:txBody>
          <a:bodyPr wrap="square" lIns="0" tIns="0" rIns="0" bIns="0" rtlCol="0" anchor="t"/>
          <a:lstStyle/>
          <a:p>
            <a:pPr algn="l" marL="0" indent="0">
              <a:spcAft>
                <a:spcPts val="0"/>
              </a:spcAft>
              <a:buNone/>
            </a:pPr>
            <a:r>
              <a:rPr lang="en-US" sz="4800" dirty="0">
                <a:solidFill>
                  <a:srgbClr val="262626"/>
                </a:solidFill>
                <a:latin typeface="Poppins SemiBold"/>
                <a:ea typeface="Poppins SemiBold"/>
                <a:cs typeface="Poppins SemiBold"/>
              </a:rPr>
              <a:t>Nigeria first</a:t>
            </a:r>
            <a:endParaRPr lang="en-US" sz="4800" dirty="0"/>
          </a:p>
        </p:txBody>
      </p:sp>
      <p:sp>
        <p:nvSpPr>
          <p:cNvPr id="9" name="AC 103"/>
          <p:cNvSpPr/>
          <p:nvPr/>
        </p:nvSpPr>
        <p:spPr>
          <a:xfrm>
            <a:off x="2971800" y="3794760"/>
            <a:ext cx="6492240" cy="5394960"/>
          </a:xfrm>
          <a:prstGeom prst="rect">
            <a:avLst/>
          </a:prstGeom>
          <a:noFill/>
          <a:ln>
            <a:noFill/>
          </a:ln>
        </p:spPr>
        <p:txBody>
          <a:bodyPr wrap="square" lIns="0" tIns="0" rIns="0" bIns="0" rtlCol="0" anchor="t"/>
          <a:lstStyle/>
          <a:p>
            <a:pPr algn="l" marL="256032" indent="-256032">
              <a:lnSpc>
                <a:spcPct val="125000"/>
              </a:lnSpc>
              <a:spcAft>
                <a:spcPts val="2000"/>
              </a:spcAft>
              <a:buClr>
                <a:srgbClr val="F7931A"/>
              </a:buClr>
              <a:buFont typeface="Arial"/>
              <a:buChar char="•"/>
            </a:pPr>
            <a:r>
              <a:rPr lang="en-US" sz="1800" dirty="0">
                <a:solidFill>
                  <a:srgbClr val="215550"/>
                </a:solidFill>
                <a:latin typeface="Poppins SemiBold"/>
                <a:ea typeface="Poppins SemiBold"/>
                <a:cs typeface="Poppins SemiBold"/>
              </a:rPr>
              <a:t>133.3M</a:t>
            </a:r>
            <a:r>
              <a:rPr lang="en-US" sz="1800" dirty="0">
                <a:solidFill>
                  <a:srgbClr val="4D4D4D"/>
                </a:solidFill>
                <a:latin typeface="Lato"/>
                <a:ea typeface="Lato"/>
                <a:cs typeface="Lato"/>
              </a:rPr>
              <a:t> Nigerian adults (15+) in 2024, and </a:t>
            </a:r>
            <a:r>
              <a:rPr lang="en-US" sz="1800" dirty="0">
                <a:solidFill>
                  <a:srgbClr val="215550"/>
                </a:solidFill>
                <a:latin typeface="Poppins SemiBold"/>
                <a:ea typeface="Poppins SemiBold"/>
                <a:cs typeface="Poppins SemiBold"/>
              </a:rPr>
              <a:t>83.8%</a:t>
            </a:r>
            <a:r>
              <a:rPr lang="en-US" sz="1800" dirty="0">
                <a:solidFill>
                  <a:srgbClr val="4D4D4D"/>
                </a:solidFill>
                <a:latin typeface="Lato"/>
                <a:ea typeface="Lato"/>
                <a:cs typeface="Lato"/>
              </a:rPr>
              <a:t> own a mobile phone.</a:t>
            </a:r>
            <a:r>
              <a:rPr lang="en-US" sz="1100" dirty="0">
                <a:solidFill>
                  <a:srgbClr val="8C8C8C"/>
                </a:solidFill>
                <a:latin typeface="Lato"/>
                <a:ea typeface="Lato"/>
                <a:cs typeface="Lato"/>
              </a:rPr>
              <a:t> [Global Findex 2025]</a:t>
            </a:r>
            <a:endParaRPr lang="en-US" sz="1800" dirty="0"/>
          </a:p>
          <a:p>
            <a:pPr algn="l" marL="256032" indent="-256032">
              <a:lnSpc>
                <a:spcPct val="125000"/>
              </a:lnSpc>
              <a:spcAft>
                <a:spcPts val="2000"/>
              </a:spcAft>
              <a:buClr>
                <a:srgbClr val="F7931A"/>
              </a:buClr>
              <a:buFont typeface="Arial"/>
              <a:buChar char="•"/>
            </a:pPr>
            <a:r>
              <a:rPr lang="en-US" sz="1800" dirty="0">
                <a:solidFill>
                  <a:srgbClr val="215550"/>
                </a:solidFill>
                <a:latin typeface="Poppins SemiBold"/>
                <a:ea typeface="Poppins SemiBold"/>
                <a:cs typeface="Poppins SemiBold"/>
              </a:rPr>
              <a:t>63.3%</a:t>
            </a:r>
            <a:r>
              <a:rPr lang="en-US" sz="1800" dirty="0">
                <a:solidFill>
                  <a:srgbClr val="4D4D4D"/>
                </a:solidFill>
                <a:latin typeface="Lato"/>
                <a:ea typeface="Lato"/>
                <a:cs typeface="Lato"/>
              </a:rPr>
              <a:t> of adults have an account in 2024, but </a:t>
            </a:r>
            <a:r>
              <a:rPr lang="en-US" sz="1800" dirty="0">
                <a:solidFill>
                  <a:srgbClr val="215550"/>
                </a:solidFill>
                <a:latin typeface="Poppins SemiBold"/>
                <a:ea typeface="Poppins SemiBold"/>
                <a:cs typeface="Poppins SemiBold"/>
              </a:rPr>
              <a:t>39% (40M)</a:t>
            </a:r>
            <a:r>
              <a:rPr lang="en-US" sz="1800" dirty="0">
                <a:solidFill>
                  <a:srgbClr val="4D4D4D"/>
                </a:solidFill>
                <a:latin typeface="Lato"/>
                <a:ea typeface="Lato"/>
                <a:cs typeface="Lato"/>
              </a:rPr>
              <a:t> still use informal financial services.</a:t>
            </a:r>
            <a:r>
              <a:rPr lang="en-US" sz="1100" dirty="0">
                <a:solidFill>
                  <a:srgbClr val="8C8C8C"/>
                </a:solidFill>
                <a:latin typeface="Lato"/>
                <a:ea typeface="Lato"/>
                <a:cs typeface="Lato"/>
              </a:rPr>
              <a:t> [Findex 2025; EFInA A2F 2023]</a:t>
            </a:r>
            <a:endParaRPr lang="en-US" sz="1800" dirty="0"/>
          </a:p>
          <a:p>
            <a:pPr algn="l" marL="256032" indent="-256032">
              <a:lnSpc>
                <a:spcPct val="125000"/>
              </a:lnSpc>
              <a:spcAft>
                <a:spcPts val="2000"/>
              </a:spcAft>
              <a:buClr>
                <a:srgbClr val="F7931A"/>
              </a:buClr>
              <a:buFont typeface="Arial"/>
              <a:buChar char="•"/>
            </a:pPr>
            <a:r>
              <a:rPr lang="en-US" sz="1800" dirty="0">
                <a:solidFill>
                  <a:srgbClr val="4D4D4D"/>
                </a:solidFill>
                <a:latin typeface="Lato"/>
                <a:ea typeface="Lato"/>
                <a:cs typeface="Lato"/>
              </a:rPr>
              <a:t>Saving through savings clubs is just as common across Sub-Saharan Africa: </a:t>
            </a:r>
            <a:r>
              <a:rPr lang="en-US" sz="1800" dirty="0">
                <a:solidFill>
                  <a:srgbClr val="215550"/>
                </a:solidFill>
                <a:latin typeface="Poppins SemiBold"/>
                <a:ea typeface="Poppins SemiBold"/>
                <a:cs typeface="Poppins SemiBold"/>
              </a:rPr>
              <a:t>28.1%</a:t>
            </a:r>
            <a:r>
              <a:rPr lang="en-US" sz="1800" dirty="0">
                <a:solidFill>
                  <a:srgbClr val="4D4D4D"/>
                </a:solidFill>
                <a:latin typeface="Lato"/>
                <a:ea typeface="Lato"/>
                <a:cs typeface="Lato"/>
              </a:rPr>
              <a:t> of adults in 2024.</a:t>
            </a:r>
            <a:r>
              <a:rPr lang="en-US" sz="1100" dirty="0">
                <a:solidFill>
                  <a:srgbClr val="8C8C8C"/>
                </a:solidFill>
                <a:latin typeface="Lato"/>
                <a:ea typeface="Lato"/>
                <a:cs typeface="Lato"/>
              </a:rPr>
              <a:t> [Global Findex 2025]</a:t>
            </a:r>
            <a:endParaRPr lang="en-US" sz="1800" dirty="0"/>
          </a:p>
          <a:p>
            <a:pPr algn="l" marL="256032" indent="-256032">
              <a:lnSpc>
                <a:spcPct val="125000"/>
              </a:lnSpc>
              <a:spcAft>
                <a:spcPts val="0"/>
              </a:spcAft>
              <a:buClr>
                <a:srgbClr val="F7931A"/>
              </a:buClr>
              <a:buFont typeface="Arial"/>
              <a:buChar char="•"/>
            </a:pPr>
            <a:r>
              <a:rPr lang="en-US" sz="1800" dirty="0">
                <a:solidFill>
                  <a:srgbClr val="4D4D4D"/>
                </a:solidFill>
                <a:latin typeface="Lato"/>
                <a:ea typeface="Lato"/>
                <a:cs typeface="Lato"/>
              </a:rPr>
              <a:t>First users: market traders, church and alumni groups, and office ajo, which already pool money every week.</a:t>
            </a:r>
            <a:endParaRPr lang="en-US" sz="1800" dirty="0"/>
          </a:p>
        </p:txBody>
      </p:sp>
      <p:sp>
        <p:nvSpPr>
          <p:cNvPr id="10" name="AC 104"/>
          <p:cNvSpPr/>
          <p:nvPr/>
        </p:nvSpPr>
        <p:spPr>
          <a:xfrm>
            <a:off x="9829800" y="914400"/>
            <a:ext cx="3657600" cy="4114800"/>
          </a:xfrm>
          <a:prstGeom prst="roundRect">
            <a:avLst>
              <a:gd name="adj" fmla="val 5000"/>
            </a:avLst>
          </a:prstGeom>
          <a:solidFill>
            <a:srgbClr val="215550"/>
          </a:solidFill>
          <a:ln>
            <a:noFill/>
          </a:ln>
        </p:spPr>
        <p:txBody>
          <a:bodyPr wrap="square" lIns="0" tIns="0" rIns="0" bIns="0" rtlCol="0" anchor="t"/>
          <a:lstStyle/>
          <a:p>
            <a:endParaRPr lang="en-US" dirty="0"/>
          </a:p>
        </p:txBody>
      </p:sp>
      <p:sp>
        <p:nvSpPr>
          <p:cNvPr id="11" name="AC 105"/>
          <p:cNvSpPr/>
          <p:nvPr/>
        </p:nvSpPr>
        <p:spPr>
          <a:xfrm>
            <a:off x="10287000" y="1874520"/>
            <a:ext cx="1005840" cy="384048"/>
          </a:xfrm>
          <a:prstGeom prst="ellipse">
            <a:avLst/>
          </a:prstGeom>
          <a:solidFill>
            <a:srgbClr val="F7931A"/>
          </a:solidFill>
          <a:ln w="19050">
            <a:solidFill>
              <a:srgbClr val="C46A06"/>
            </a:solidFill>
            <a:round/>
          </a:ln>
        </p:spPr>
        <p:txBody>
          <a:bodyPr wrap="square" lIns="0" tIns="0" rIns="0" bIns="0" rtlCol="0" anchor="t"/>
          <a:lstStyle/>
          <a:p>
            <a:endParaRPr lang="en-US" dirty="0"/>
          </a:p>
        </p:txBody>
      </p:sp>
      <p:sp>
        <p:nvSpPr>
          <p:cNvPr id="12" name="AC 106"/>
          <p:cNvSpPr/>
          <p:nvPr/>
        </p:nvSpPr>
        <p:spPr>
          <a:xfrm>
            <a:off x="10287000" y="1691640"/>
            <a:ext cx="1005840" cy="384048"/>
          </a:xfrm>
          <a:prstGeom prst="ellipse">
            <a:avLst/>
          </a:prstGeom>
          <a:solidFill>
            <a:srgbClr val="F7931A"/>
          </a:solidFill>
          <a:ln w="19050">
            <a:solidFill>
              <a:srgbClr val="C46A06"/>
            </a:solidFill>
            <a:round/>
          </a:ln>
        </p:spPr>
        <p:txBody>
          <a:bodyPr wrap="square" lIns="0" tIns="0" rIns="0" bIns="0" rtlCol="0" anchor="t"/>
          <a:lstStyle/>
          <a:p>
            <a:endParaRPr lang="en-US" dirty="0"/>
          </a:p>
        </p:txBody>
      </p:sp>
      <p:sp>
        <p:nvSpPr>
          <p:cNvPr id="13" name="AC 107"/>
          <p:cNvSpPr/>
          <p:nvPr/>
        </p:nvSpPr>
        <p:spPr>
          <a:xfrm>
            <a:off x="10287000" y="1508760"/>
            <a:ext cx="1005840" cy="384048"/>
          </a:xfrm>
          <a:prstGeom prst="ellipse">
            <a:avLst/>
          </a:prstGeom>
          <a:solidFill>
            <a:srgbClr val="F7931A"/>
          </a:solidFill>
          <a:ln w="19050">
            <a:solidFill>
              <a:srgbClr val="C46A06"/>
            </a:solidFill>
            <a:round/>
          </a:ln>
        </p:spPr>
        <p:txBody>
          <a:bodyPr wrap="square" lIns="0" tIns="0" rIns="0" bIns="0" rtlCol="0" anchor="t"/>
          <a:lstStyle/>
          <a:p>
            <a:endParaRPr lang="en-US" dirty="0"/>
          </a:p>
        </p:txBody>
      </p:sp>
      <p:sp>
        <p:nvSpPr>
          <p:cNvPr id="14" name="AC 108"/>
          <p:cNvSpPr/>
          <p:nvPr/>
        </p:nvSpPr>
        <p:spPr>
          <a:xfrm>
            <a:off x="11109960" y="1325880"/>
            <a:ext cx="868680" cy="868680"/>
          </a:xfrm>
          <a:prstGeom prst="ellipse">
            <a:avLst/>
          </a:prstGeom>
          <a:solidFill>
            <a:srgbClr val="F7931A"/>
          </a:solidFill>
          <a:ln w="25400">
            <a:solidFill>
              <a:srgbClr val="C46A06"/>
            </a:solidFill>
            <a:round/>
          </a:ln>
        </p:spPr>
        <p:txBody>
          <a:bodyPr wrap="square" lIns="0" tIns="0" rIns="0" bIns="0" rtlCol="0" anchor="t"/>
          <a:lstStyle/>
          <a:p>
            <a:endParaRPr lang="en-US" dirty="0"/>
          </a:p>
        </p:txBody>
      </p:sp>
      <p:sp>
        <p:nvSpPr>
          <p:cNvPr id="15" name="AC 109"/>
          <p:cNvSpPr/>
          <p:nvPr/>
        </p:nvSpPr>
        <p:spPr>
          <a:xfrm>
            <a:off x="11231575" y="1447495"/>
            <a:ext cx="625450" cy="625450"/>
          </a:xfrm>
          <a:prstGeom prst="ellipse">
            <a:avLst/>
          </a:prstGeom>
          <a:noFill/>
          <a:ln w="15875">
            <a:solidFill>
              <a:srgbClr val="FFFFFF"/>
            </a:solidFill>
            <a:round/>
          </a:ln>
        </p:spPr>
        <p:txBody>
          <a:bodyPr wrap="square" lIns="0" tIns="0" rIns="0" bIns="0" rtlCol="0" anchor="t"/>
          <a:lstStyle/>
          <a:p>
            <a:endParaRPr lang="en-US" dirty="0"/>
          </a:p>
        </p:txBody>
      </p:sp>
      <p:sp>
        <p:nvSpPr>
          <p:cNvPr id="16" name="AC 110"/>
          <p:cNvSpPr/>
          <p:nvPr/>
        </p:nvSpPr>
        <p:spPr>
          <a:xfrm>
            <a:off x="10241280" y="2514600"/>
            <a:ext cx="3017520" cy="914400"/>
          </a:xfrm>
          <a:prstGeom prst="rect">
            <a:avLst/>
          </a:prstGeom>
          <a:noFill/>
          <a:ln>
            <a:noFill/>
          </a:ln>
        </p:spPr>
        <p:txBody>
          <a:bodyPr wrap="square" lIns="0" tIns="0" rIns="0" bIns="0" rtlCol="0" anchor="t"/>
          <a:lstStyle/>
          <a:p>
            <a:pPr algn="l" marL="0" indent="0">
              <a:spcAft>
                <a:spcPts val="0"/>
              </a:spcAft>
              <a:buNone/>
            </a:pPr>
            <a:r>
              <a:rPr lang="en-US" sz="5000" dirty="0">
                <a:solidFill>
                  <a:srgbClr val="FFFFFF"/>
                </a:solidFill>
                <a:latin typeface="Poppins SemiBold"/>
                <a:ea typeface="Poppins SemiBold"/>
                <a:cs typeface="Poppins SemiBold"/>
              </a:rPr>
              <a:t>28.0%</a:t>
            </a:r>
            <a:endParaRPr lang="en-US" sz="5000" dirty="0"/>
          </a:p>
        </p:txBody>
      </p:sp>
      <p:sp>
        <p:nvSpPr>
          <p:cNvPr id="17" name="AC 111"/>
          <p:cNvSpPr/>
          <p:nvPr/>
        </p:nvSpPr>
        <p:spPr>
          <a:xfrm>
            <a:off x="10241280" y="3429000"/>
            <a:ext cx="301752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FFFFFF"/>
                </a:solidFill>
                <a:latin typeface="Poppins Medium"/>
                <a:ea typeface="Poppins Medium"/>
                <a:cs typeface="Poppins Medium"/>
              </a:rPr>
              <a:t>save in clubs</a:t>
            </a:r>
            <a:endParaRPr lang="en-US" sz="1800" dirty="0"/>
          </a:p>
        </p:txBody>
      </p:sp>
      <p:sp>
        <p:nvSpPr>
          <p:cNvPr id="18" name="AC 112"/>
          <p:cNvSpPr/>
          <p:nvPr/>
        </p:nvSpPr>
        <p:spPr>
          <a:xfrm>
            <a:off x="10241280" y="3886200"/>
            <a:ext cx="3017520" cy="731520"/>
          </a:xfrm>
          <a:prstGeom prst="rect">
            <a:avLst/>
          </a:prstGeom>
          <a:noFill/>
          <a:ln>
            <a:noFill/>
          </a:ln>
        </p:spPr>
        <p:txBody>
          <a:bodyPr wrap="square" lIns="0" tIns="0" rIns="0" bIns="0" rtlCol="0" anchor="t"/>
          <a:lstStyle/>
          <a:p>
            <a:pPr algn="l" marL="0" indent="0">
              <a:spcAft>
                <a:spcPts val="0"/>
              </a:spcAft>
              <a:buNone/>
            </a:pPr>
            <a:r>
              <a:rPr lang="en-US" sz="1100" dirty="0">
                <a:solidFill>
                  <a:srgbClr val="C9DAD6"/>
                </a:solidFill>
                <a:latin typeface="Lato"/>
                <a:ea typeface="Lato"/>
                <a:cs typeface="Lato"/>
              </a:rPr>
              <a:t>Nigeria, 2024 · [Global Findex 2025]</a:t>
            </a:r>
            <a:endParaRPr lang="en-US" sz="1100" dirty="0"/>
          </a:p>
        </p:txBody>
      </p:sp>
      <p:sp>
        <p:nvSpPr>
          <p:cNvPr id="19" name="AC 113"/>
          <p:cNvSpPr/>
          <p:nvPr/>
        </p:nvSpPr>
        <p:spPr>
          <a:xfrm>
            <a:off x="9829800" y="5257800"/>
            <a:ext cx="3657600" cy="4114800"/>
          </a:xfrm>
          <a:prstGeom prst="roundRect">
            <a:avLst>
              <a:gd name="adj" fmla="val 5000"/>
            </a:avLst>
          </a:prstGeom>
          <a:solidFill>
            <a:srgbClr val="F7931A"/>
          </a:solidFill>
          <a:ln>
            <a:noFill/>
          </a:ln>
        </p:spPr>
        <p:txBody>
          <a:bodyPr wrap="square" lIns="0" tIns="0" rIns="0" bIns="0" rtlCol="0" anchor="t"/>
          <a:lstStyle/>
          <a:p>
            <a:endParaRPr lang="en-US" dirty="0"/>
          </a:p>
        </p:txBody>
      </p:sp>
      <p:sp>
        <p:nvSpPr>
          <p:cNvPr id="20" name="AC 114"/>
          <p:cNvSpPr/>
          <p:nvPr/>
        </p:nvSpPr>
        <p:spPr>
          <a:xfrm>
            <a:off x="10287000" y="5623560"/>
            <a:ext cx="685800" cy="1143000"/>
          </a:xfrm>
          <a:prstGeom prst="roundRect">
            <a:avLst>
              <a:gd name="adj" fmla="val 16000"/>
            </a:avLst>
          </a:prstGeom>
          <a:solidFill>
            <a:srgbClr val="262626"/>
          </a:solidFill>
          <a:ln>
            <a:noFill/>
          </a:ln>
        </p:spPr>
        <p:txBody>
          <a:bodyPr wrap="square" lIns="0" tIns="0" rIns="0" bIns="0" rtlCol="0" anchor="t"/>
          <a:lstStyle/>
          <a:p>
            <a:endParaRPr lang="en-US" dirty="0"/>
          </a:p>
        </p:txBody>
      </p:sp>
      <p:sp>
        <p:nvSpPr>
          <p:cNvPr id="21" name="AC 115"/>
          <p:cNvSpPr/>
          <p:nvPr/>
        </p:nvSpPr>
        <p:spPr>
          <a:xfrm>
            <a:off x="10360152" y="5788152"/>
            <a:ext cx="539496" cy="777240"/>
          </a:xfrm>
          <a:prstGeom prst="rect">
            <a:avLst/>
          </a:prstGeom>
          <a:solidFill>
            <a:srgbClr val="FCE3C2"/>
          </a:solidFill>
          <a:ln>
            <a:noFill/>
          </a:ln>
        </p:spPr>
        <p:txBody>
          <a:bodyPr wrap="square" lIns="0" tIns="0" rIns="0" bIns="0" rtlCol="0" anchor="t"/>
          <a:lstStyle/>
          <a:p>
            <a:endParaRPr lang="en-US" dirty="0"/>
          </a:p>
        </p:txBody>
      </p:sp>
      <p:sp>
        <p:nvSpPr>
          <p:cNvPr id="22" name="AC 116"/>
          <p:cNvSpPr/>
          <p:nvPr/>
        </p:nvSpPr>
        <p:spPr>
          <a:xfrm>
            <a:off x="11109960" y="5715000"/>
            <a:ext cx="777240" cy="438912"/>
          </a:xfrm>
          <a:prstGeom prst="wedgeRoundRectCallout">
            <a:avLst>
              <a:gd name="adj1" fmla="val -40000"/>
              <a:gd name="adj2" fmla="val 70000"/>
              <a:gd name="adj3" fmla="val 16667"/>
            </a:avLst>
          </a:prstGeom>
          <a:solidFill>
            <a:srgbClr val="FFFFFF"/>
          </a:solidFill>
          <a:ln>
            <a:noFill/>
          </a:ln>
        </p:spPr>
        <p:txBody>
          <a:bodyPr wrap="square" lIns="0" tIns="0" rIns="0" bIns="0" rtlCol="0" anchor="t"/>
          <a:lstStyle/>
          <a:p>
            <a:endParaRPr lang="en-US" dirty="0"/>
          </a:p>
        </p:txBody>
      </p:sp>
      <p:sp>
        <p:nvSpPr>
          <p:cNvPr id="23" name="AC 117"/>
          <p:cNvSpPr/>
          <p:nvPr/>
        </p:nvSpPr>
        <p:spPr>
          <a:xfrm>
            <a:off x="10241280" y="6858000"/>
            <a:ext cx="3017520" cy="914400"/>
          </a:xfrm>
          <a:prstGeom prst="rect">
            <a:avLst/>
          </a:prstGeom>
          <a:noFill/>
          <a:ln>
            <a:noFill/>
          </a:ln>
        </p:spPr>
        <p:txBody>
          <a:bodyPr wrap="square" lIns="0" tIns="0" rIns="0" bIns="0" rtlCol="0" anchor="t"/>
          <a:lstStyle/>
          <a:p>
            <a:pPr algn="l" marL="0" indent="0">
              <a:spcAft>
                <a:spcPts val="0"/>
              </a:spcAft>
              <a:buNone/>
            </a:pPr>
            <a:r>
              <a:rPr lang="en-US" sz="5000" dirty="0">
                <a:solidFill>
                  <a:srgbClr val="262626"/>
                </a:solidFill>
                <a:latin typeface="Poppins SemiBold"/>
                <a:ea typeface="Poppins SemiBold"/>
                <a:cs typeface="Poppins SemiBold"/>
              </a:rPr>
              <a:t>83.8%</a:t>
            </a:r>
            <a:endParaRPr lang="en-US" sz="5000" dirty="0"/>
          </a:p>
        </p:txBody>
      </p:sp>
      <p:sp>
        <p:nvSpPr>
          <p:cNvPr id="24" name="AC 118"/>
          <p:cNvSpPr/>
          <p:nvPr/>
        </p:nvSpPr>
        <p:spPr>
          <a:xfrm>
            <a:off x="10241280" y="7772400"/>
            <a:ext cx="301752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62626"/>
                </a:solidFill>
                <a:latin typeface="Poppins Medium"/>
                <a:ea typeface="Poppins Medium"/>
                <a:cs typeface="Poppins Medium"/>
              </a:rPr>
              <a:t>own a mobile phone</a:t>
            </a:r>
            <a:endParaRPr lang="en-US" sz="1800" dirty="0"/>
          </a:p>
        </p:txBody>
      </p:sp>
      <p:sp>
        <p:nvSpPr>
          <p:cNvPr id="25" name="AC 119"/>
          <p:cNvSpPr/>
          <p:nvPr/>
        </p:nvSpPr>
        <p:spPr>
          <a:xfrm>
            <a:off x="10241280" y="8229600"/>
            <a:ext cx="3017520" cy="731520"/>
          </a:xfrm>
          <a:prstGeom prst="rect">
            <a:avLst/>
          </a:prstGeom>
          <a:noFill/>
          <a:ln>
            <a:noFill/>
          </a:ln>
        </p:spPr>
        <p:txBody>
          <a:bodyPr wrap="square" lIns="0" tIns="0" rIns="0" bIns="0" rtlCol="0" anchor="t"/>
          <a:lstStyle/>
          <a:p>
            <a:pPr algn="l" marL="0" indent="0">
              <a:spcAft>
                <a:spcPts val="0"/>
              </a:spcAft>
              <a:buNone/>
            </a:pPr>
            <a:r>
              <a:rPr lang="en-US" sz="1100" dirty="0">
                <a:solidFill>
                  <a:srgbClr val="5A3300"/>
                </a:solidFill>
                <a:latin typeface="Lato"/>
                <a:ea typeface="Lato"/>
                <a:cs typeface="Lato"/>
              </a:rPr>
              <a:t>Nigeria, 2024 · [Global Findex 2025]</a:t>
            </a:r>
            <a:endParaRPr lang="en-US" sz="1100" dirty="0"/>
          </a:p>
        </p:txBody>
      </p:sp>
      <p:sp>
        <p:nvSpPr>
          <p:cNvPr id="26" name="AC 120"/>
          <p:cNvSpPr/>
          <p:nvPr/>
        </p:nvSpPr>
        <p:spPr>
          <a:xfrm>
            <a:off x="13716000" y="914400"/>
            <a:ext cx="3657600" cy="8458200"/>
          </a:xfrm>
          <a:prstGeom prst="roundRect">
            <a:avLst>
              <a:gd name="adj" fmla="val 5000"/>
            </a:avLst>
          </a:prstGeom>
          <a:solidFill>
            <a:srgbClr val="E9F1EF"/>
          </a:solidFill>
          <a:ln>
            <a:noFill/>
          </a:ln>
        </p:spPr>
        <p:txBody>
          <a:bodyPr wrap="square" lIns="0" tIns="0" rIns="0" bIns="0" rtlCol="0" anchor="t"/>
          <a:lstStyle/>
          <a:p>
            <a:endParaRPr lang="en-US" dirty="0"/>
          </a:p>
        </p:txBody>
      </p:sp>
      <p:sp>
        <p:nvSpPr>
          <p:cNvPr id="27" name="AC 121"/>
          <p:cNvSpPr/>
          <p:nvPr/>
        </p:nvSpPr>
        <p:spPr>
          <a:xfrm>
            <a:off x="13990320" y="1463040"/>
            <a:ext cx="3108960" cy="2487168"/>
          </a:xfrm>
          <a:custGeom>
            <a:avLst/>
            <a:gdLst/>
            <a:ahLst/>
            <a:cxnLst/>
            <a:rect l="0" t="0" r="r" b="b"/>
            <a:pathLst>
              <a:path w="12000" h="9600">
                <a:moveTo>
                  <a:pt x="0" y="7500"/>
                </a:moveTo>
                <a:lnTo>
                  <a:pt x="0" y="6000"/>
                </a:lnTo>
                <a:lnTo>
                  <a:pt x="399" y="5200"/>
                </a:lnTo>
                <a:lnTo>
                  <a:pt x="899" y="4000"/>
                </a:lnTo>
                <a:lnTo>
                  <a:pt x="899" y="2200"/>
                </a:lnTo>
                <a:lnTo>
                  <a:pt x="1399" y="400"/>
                </a:lnTo>
                <a:lnTo>
                  <a:pt x="2800" y="99"/>
                </a:lnTo>
                <a:lnTo>
                  <a:pt x="3700" y="300"/>
                </a:lnTo>
                <a:lnTo>
                  <a:pt x="5100" y="599"/>
                </a:lnTo>
                <a:lnTo>
                  <a:pt x="6300" y="1099"/>
                </a:lnTo>
                <a:lnTo>
                  <a:pt x="7899" y="599"/>
                </a:lnTo>
                <a:lnTo>
                  <a:pt x="9600" y="800"/>
                </a:lnTo>
                <a:lnTo>
                  <a:pt x="10899" y="200"/>
                </a:lnTo>
                <a:lnTo>
                  <a:pt x="11500" y="1500"/>
                </a:lnTo>
                <a:lnTo>
                  <a:pt x="11899" y="2300"/>
                </a:lnTo>
                <a:lnTo>
                  <a:pt x="10899" y="3300"/>
                </a:lnTo>
                <a:lnTo>
                  <a:pt x="10600" y="3800"/>
                </a:lnTo>
                <a:lnTo>
                  <a:pt x="10100" y="5200"/>
                </a:lnTo>
                <a:lnTo>
                  <a:pt x="9500" y="5500"/>
                </a:lnTo>
                <a:lnTo>
                  <a:pt x="9200" y="6800"/>
                </a:lnTo>
                <a:lnTo>
                  <a:pt x="8399" y="7400"/>
                </a:lnTo>
                <a:lnTo>
                  <a:pt x="7899" y="6800"/>
                </a:lnTo>
                <a:lnTo>
                  <a:pt x="7100" y="7100"/>
                </a:lnTo>
                <a:lnTo>
                  <a:pt x="6499" y="7500"/>
                </a:lnTo>
                <a:lnTo>
                  <a:pt x="5899" y="9100"/>
                </a:lnTo>
                <a:lnTo>
                  <a:pt x="4399" y="9500"/>
                </a:lnTo>
                <a:lnTo>
                  <a:pt x="3399" y="9600"/>
                </a:lnTo>
                <a:lnTo>
                  <a:pt x="2700" y="8700"/>
                </a:lnTo>
                <a:lnTo>
                  <a:pt x="1899" y="7700"/>
                </a:lnTo>
                <a:lnTo>
                  <a:pt x="699" y="7500"/>
                </a:lnTo>
                <a:close/>
              </a:path>
            </a:pathLst>
          </a:custGeom>
          <a:solidFill>
            <a:srgbClr val="215550"/>
          </a:solidFill>
          <a:ln>
            <a:noFill/>
          </a:ln>
        </p:spPr>
        <p:txBody>
          <a:bodyPr wrap="square" lIns="0" tIns="0" rIns="0" bIns="0" rtlCol="0" anchor="t"/>
          <a:lstStyle/>
          <a:p>
            <a:endParaRPr lang="en-US" dirty="0"/>
          </a:p>
        </p:txBody>
      </p:sp>
      <p:sp>
        <p:nvSpPr>
          <p:cNvPr id="28" name="AC 122"/>
          <p:cNvSpPr/>
          <p:nvPr/>
        </p:nvSpPr>
        <p:spPr>
          <a:xfrm>
            <a:off x="14052804" y="3274314"/>
            <a:ext cx="237744" cy="237744"/>
          </a:xfrm>
          <a:prstGeom prst="ellipse">
            <a:avLst/>
          </a:prstGeom>
          <a:solidFill>
            <a:srgbClr val="F7931A"/>
          </a:solidFill>
          <a:ln w="19050">
            <a:solidFill>
              <a:srgbClr val="FFFFFF"/>
            </a:solidFill>
            <a:round/>
          </a:ln>
        </p:spPr>
        <p:txBody>
          <a:bodyPr wrap="square" lIns="0" tIns="0" rIns="0" bIns="0" rtlCol="0" anchor="t"/>
          <a:lstStyle/>
          <a:p>
            <a:endParaRPr lang="en-US" dirty="0"/>
          </a:p>
        </p:txBody>
      </p:sp>
      <p:sp>
        <p:nvSpPr>
          <p:cNvPr id="29" name="AC 123"/>
          <p:cNvSpPr/>
          <p:nvPr/>
        </p:nvSpPr>
        <p:spPr>
          <a:xfrm>
            <a:off x="14080236" y="3530346"/>
            <a:ext cx="1097280" cy="320040"/>
          </a:xfrm>
          <a:prstGeom prst="rect">
            <a:avLst/>
          </a:prstGeom>
          <a:noFill/>
          <a:ln>
            <a:noFill/>
          </a:ln>
        </p:spPr>
        <p:txBody>
          <a:bodyPr wrap="square" lIns="0" tIns="0" rIns="0" bIns="0" rtlCol="0" anchor="t"/>
          <a:lstStyle/>
          <a:p>
            <a:pPr algn="l" marL="0" indent="0">
              <a:spcAft>
                <a:spcPts val="0"/>
              </a:spcAft>
              <a:buNone/>
            </a:pPr>
            <a:r>
              <a:rPr lang="en-US" sz="1200" dirty="0">
                <a:solidFill>
                  <a:srgbClr val="262626"/>
                </a:solidFill>
                <a:latin typeface="Poppins SemiBold"/>
                <a:ea typeface="Poppins SemiBold"/>
                <a:cs typeface="Poppins SemiBold"/>
              </a:rPr>
              <a:t>Lagos</a:t>
            </a:r>
            <a:endParaRPr lang="en-US" sz="1200" dirty="0"/>
          </a:p>
        </p:txBody>
      </p:sp>
      <p:sp>
        <p:nvSpPr>
          <p:cNvPr id="30" name="AC 124"/>
          <p:cNvSpPr/>
          <p:nvPr/>
        </p:nvSpPr>
        <p:spPr>
          <a:xfrm>
            <a:off x="14081760" y="4343400"/>
            <a:ext cx="3017520" cy="731520"/>
          </a:xfrm>
          <a:prstGeom prst="rect">
            <a:avLst/>
          </a:prstGeom>
          <a:noFill/>
          <a:ln>
            <a:noFill/>
          </a:ln>
        </p:spPr>
        <p:txBody>
          <a:bodyPr wrap="square" lIns="0" tIns="0" rIns="0" bIns="0" rtlCol="0" anchor="t"/>
          <a:lstStyle/>
          <a:p>
            <a:pPr algn="l" marL="0" indent="0">
              <a:spcAft>
                <a:spcPts val="0"/>
              </a:spcAft>
              <a:buNone/>
            </a:pPr>
            <a:r>
              <a:rPr lang="en-US" sz="3600" dirty="0">
                <a:solidFill>
                  <a:srgbClr val="215550"/>
                </a:solidFill>
                <a:latin typeface="Poppins SemiBold"/>
                <a:ea typeface="Poppins SemiBold"/>
                <a:cs typeface="Poppins SemiBold"/>
              </a:rPr>
              <a:t>133.3M</a:t>
            </a:r>
            <a:endParaRPr lang="en-US" sz="3600" dirty="0"/>
          </a:p>
        </p:txBody>
      </p:sp>
      <p:sp>
        <p:nvSpPr>
          <p:cNvPr id="31" name="AC 125"/>
          <p:cNvSpPr/>
          <p:nvPr/>
        </p:nvSpPr>
        <p:spPr>
          <a:xfrm>
            <a:off x="14081760" y="5029200"/>
            <a:ext cx="3017520" cy="640080"/>
          </a:xfrm>
          <a:prstGeom prst="rect">
            <a:avLst/>
          </a:prstGeom>
          <a:noFill/>
          <a:ln>
            <a:noFill/>
          </a:ln>
        </p:spPr>
        <p:txBody>
          <a:bodyPr wrap="square" lIns="0" tIns="0" rIns="0" bIns="0" rtlCol="0" anchor="t"/>
          <a:lstStyle/>
          <a:p>
            <a:pPr algn="l" marL="0" indent="0">
              <a:spcAft>
                <a:spcPts val="0"/>
              </a:spcAft>
              <a:buNone/>
            </a:pPr>
            <a:r>
              <a:rPr lang="en-US" sz="1400" dirty="0">
                <a:solidFill>
                  <a:srgbClr val="4D4D4D"/>
                </a:solidFill>
                <a:latin typeface="Lato"/>
                <a:ea typeface="Lato"/>
                <a:cs typeface="Lato"/>
              </a:rPr>
              <a:t>adults (15+), 2024</a:t>
            </a:r>
            <a:r>
              <a:rPr lang="en-US" sz="1100" dirty="0">
                <a:solidFill>
                  <a:srgbClr val="8C8C8C"/>
                </a:solidFill>
                <a:latin typeface="Lato"/>
                <a:ea typeface="Lato"/>
                <a:cs typeface="Lato"/>
              </a:rPr>
              <a:t> [Global Findex 2025]</a:t>
            </a:r>
            <a:endParaRPr lang="en-US" sz="1400" dirty="0"/>
          </a:p>
        </p:txBody>
      </p:sp>
      <p:sp>
        <p:nvSpPr>
          <p:cNvPr id="32" name="AC 126"/>
          <p:cNvSpPr/>
          <p:nvPr/>
        </p:nvSpPr>
        <p:spPr>
          <a:xfrm>
            <a:off x="14081760" y="5897880"/>
            <a:ext cx="2926080" cy="0"/>
          </a:xfrm>
          <a:prstGeom prst="line">
            <a:avLst/>
          </a:prstGeom>
          <a:noFill/>
          <a:ln w="12700">
            <a:solidFill>
              <a:srgbClr val="C9DAD6"/>
            </a:solidFill>
            <a:round/>
          </a:ln>
        </p:spPr>
        <p:txBody>
          <a:bodyPr wrap="square" lIns="0" tIns="0" rIns="0" bIns="0" rtlCol="0" anchor="t"/>
          <a:lstStyle/>
          <a:p>
            <a:endParaRPr lang="en-US" dirty="0"/>
          </a:p>
        </p:txBody>
      </p:sp>
      <p:sp>
        <p:nvSpPr>
          <p:cNvPr id="33" name="AC 127"/>
          <p:cNvSpPr/>
          <p:nvPr/>
        </p:nvSpPr>
        <p:spPr>
          <a:xfrm>
            <a:off x="14081760" y="6172200"/>
            <a:ext cx="3017520" cy="914400"/>
          </a:xfrm>
          <a:prstGeom prst="rect">
            <a:avLst/>
          </a:prstGeom>
          <a:noFill/>
          <a:ln>
            <a:noFill/>
          </a:ln>
        </p:spPr>
        <p:txBody>
          <a:bodyPr wrap="square" lIns="0" tIns="0" rIns="0" bIns="0" rtlCol="0" anchor="t"/>
          <a:lstStyle/>
          <a:p>
            <a:pPr algn="l" marL="0" indent="0">
              <a:spcAft>
                <a:spcPts val="0"/>
              </a:spcAft>
              <a:buNone/>
            </a:pPr>
            <a:r>
              <a:rPr lang="en-US" sz="5000" dirty="0">
                <a:solidFill>
                  <a:srgbClr val="215550"/>
                </a:solidFill>
                <a:latin typeface="Poppins SemiBold"/>
                <a:ea typeface="Poppins SemiBold"/>
                <a:cs typeface="Poppins SemiBold"/>
              </a:rPr>
              <a:t>39%</a:t>
            </a:r>
            <a:endParaRPr lang="en-US" sz="5000" dirty="0"/>
          </a:p>
        </p:txBody>
      </p:sp>
      <p:sp>
        <p:nvSpPr>
          <p:cNvPr id="34" name="AC 128"/>
          <p:cNvSpPr/>
          <p:nvPr/>
        </p:nvSpPr>
        <p:spPr>
          <a:xfrm>
            <a:off x="14081760" y="7086600"/>
            <a:ext cx="3017520" cy="731520"/>
          </a:xfrm>
          <a:prstGeom prst="rect">
            <a:avLst/>
          </a:prstGeom>
          <a:noFill/>
          <a:ln>
            <a:noFill/>
          </a:ln>
        </p:spPr>
        <p:txBody>
          <a:bodyPr wrap="square" lIns="0" tIns="0" rIns="0" bIns="0" rtlCol="0" anchor="t"/>
          <a:lstStyle/>
          <a:p>
            <a:pPr algn="l" marL="0" indent="0">
              <a:spcAft>
                <a:spcPts val="0"/>
              </a:spcAft>
              <a:buNone/>
            </a:pPr>
            <a:r>
              <a:rPr lang="en-US" sz="1600" dirty="0">
                <a:solidFill>
                  <a:srgbClr val="262626"/>
                </a:solidFill>
                <a:latin typeface="Poppins Medium"/>
                <a:ea typeface="Poppins Medium"/>
                <a:cs typeface="Poppins Medium"/>
              </a:rPr>
              <a:t>use informal financial services</a:t>
            </a:r>
            <a:endParaRPr lang="en-US" sz="1600" dirty="0"/>
          </a:p>
        </p:txBody>
      </p:sp>
      <p:sp>
        <p:nvSpPr>
          <p:cNvPr id="35" name="AC 129"/>
          <p:cNvSpPr/>
          <p:nvPr/>
        </p:nvSpPr>
        <p:spPr>
          <a:xfrm>
            <a:off x="14081760" y="7863840"/>
            <a:ext cx="3017520" cy="731520"/>
          </a:xfrm>
          <a:prstGeom prst="rect">
            <a:avLst/>
          </a:prstGeom>
          <a:noFill/>
          <a:ln>
            <a:noFill/>
          </a:ln>
        </p:spPr>
        <p:txBody>
          <a:bodyPr wrap="square" lIns="0" tIns="0" rIns="0" bIns="0" rtlCol="0" anchor="t"/>
          <a:lstStyle/>
          <a:p>
            <a:pPr algn="l" marL="0" indent="0">
              <a:spcAft>
                <a:spcPts val="0"/>
              </a:spcAft>
              <a:buNone/>
            </a:pPr>
            <a:r>
              <a:rPr lang="en-US" sz="1100" dirty="0">
                <a:solidFill>
                  <a:srgbClr val="8C8C8C"/>
                </a:solidFill>
                <a:latin typeface="Lato"/>
                <a:ea typeface="Lato"/>
                <a:cs typeface="Lato"/>
              </a:rPr>
              <a:t>40M adults, 2023 · [EFInA A2F 2023]</a:t>
            </a:r>
            <a:endParaRPr lang="en-US" sz="1100" dirty="0"/>
          </a:p>
        </p:txBody>
      </p:sp>
      <p:sp>
        <p:nvSpPr>
          <p:cNvPr id="36"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37"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11"/>
          <p:cNvSpPr/>
          <p:nvPr/>
        </p:nvSpPr>
        <p:spPr>
          <a:xfrm>
            <a:off x="228600" y="228600"/>
            <a:ext cx="914400" cy="9829800"/>
          </a:xfrm>
          <a:prstGeom prst="roundRect">
            <a:avLst>
              <a:gd name="adj" fmla="val 50000"/>
            </a:avLst>
          </a:prstGeom>
          <a:solidFill>
            <a:srgbClr val="F7931A"/>
          </a:solidFill>
          <a:ln/>
        </p:spPr>
      </p:sp>
      <p:sp>
        <p:nvSpPr>
          <p:cNvPr id="3" name="Text 12"/>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13"/>
          <p:cNvSpPr/>
          <p:nvPr/>
        </p:nvSpPr>
        <p:spPr>
          <a:xfrm>
            <a:off x="476402" y="476402"/>
            <a:ext cx="418795" cy="418795"/>
          </a:xfrm>
          <a:prstGeom prst="ellipse">
            <a:avLst/>
          </a:prstGeom>
          <a:solidFill>
            <a:srgbClr val="FFFFFF"/>
          </a:solidFill>
          <a:ln/>
        </p:spPr>
      </p:sp>
      <p:sp>
        <p:nvSpPr>
          <p:cNvPr id="5" name="Text 18"/>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01.</a:t>
            </a:r>
            <a:endParaRPr lang="en-US" sz="1800" dirty="0"/>
          </a:p>
        </p:txBody>
      </p:sp>
      <p:sp>
        <p:nvSpPr>
          <p:cNvPr id="6" name="Shape 19"/>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971800" y="914400"/>
            <a:ext cx="6949440" cy="384048"/>
          </a:xfrm>
          <a:prstGeom prst="rect">
            <a:avLst/>
          </a:prstGeom>
          <a:noFill/>
          <a:ln>
            <a:noFill/>
          </a:ln>
        </p:spPr>
        <p:txBody>
          <a:bodyPr wrap="square" lIns="0" tIns="0" rIns="0" bIns="0" rtlCol="0" anchor="t"/>
          <a:lstStyle/>
          <a:p>
            <a:pPr algn="l" marL="0" indent="0">
              <a:spcAft>
                <a:spcPts val="0"/>
              </a:spcAft>
              <a:buNone/>
            </a:pPr>
            <a:r>
              <a:rPr lang="en-US" sz="1800" spc="100" dirty="0">
                <a:solidFill>
                  <a:srgbClr val="F7931A"/>
                </a:solidFill>
                <a:latin typeface="Poppins Medium"/>
                <a:ea typeface="Poppins Medium"/>
                <a:cs typeface="Poppins Medium"/>
              </a:rPr>
              <a:t>The problem</a:t>
            </a:r>
            <a:endParaRPr lang="en-US" sz="1800" dirty="0"/>
          </a:p>
        </p:txBody>
      </p:sp>
      <p:sp>
        <p:nvSpPr>
          <p:cNvPr id="8" name="AC 102"/>
          <p:cNvSpPr/>
          <p:nvPr/>
        </p:nvSpPr>
        <p:spPr>
          <a:xfrm>
            <a:off x="2971800" y="1298448"/>
            <a:ext cx="6949440" cy="1600200"/>
          </a:xfrm>
          <a:prstGeom prst="rect">
            <a:avLst/>
          </a:prstGeom>
          <a:noFill/>
          <a:ln>
            <a:noFill/>
          </a:ln>
        </p:spPr>
        <p:txBody>
          <a:bodyPr wrap="square" lIns="0" tIns="0" rIns="0" bIns="0" rtlCol="0" anchor="t"/>
          <a:lstStyle/>
          <a:p>
            <a:pPr algn="l" marL="0" indent="0">
              <a:spcAft>
                <a:spcPts val="0"/>
              </a:spcAft>
              <a:buNone/>
            </a:pPr>
            <a:r>
              <a:rPr lang="en-US" sz="4400" dirty="0">
                <a:solidFill>
                  <a:srgbClr val="262626"/>
                </a:solidFill>
                <a:latin typeface="Poppins SemiBold"/>
                <a:ea typeface="Poppins SemiBold"/>
                <a:cs typeface="Poppins SemiBold"/>
              </a:rPr>
              <a:t>Ajo works. The trust doesn't.</a:t>
            </a:r>
            <a:endParaRPr lang="en-US" sz="4400" dirty="0"/>
          </a:p>
        </p:txBody>
      </p:sp>
      <p:sp>
        <p:nvSpPr>
          <p:cNvPr id="9" name="AC 103"/>
          <p:cNvSpPr/>
          <p:nvPr/>
        </p:nvSpPr>
        <p:spPr>
          <a:xfrm>
            <a:off x="2971800" y="3154680"/>
            <a:ext cx="2286000" cy="822960"/>
          </a:xfrm>
          <a:prstGeom prst="rect">
            <a:avLst/>
          </a:prstGeom>
          <a:noFill/>
          <a:ln>
            <a:noFill/>
          </a:ln>
        </p:spPr>
        <p:txBody>
          <a:bodyPr wrap="square" lIns="0" tIns="0" rIns="0" bIns="0" rtlCol="0" anchor="t"/>
          <a:lstStyle/>
          <a:p>
            <a:pPr algn="l" marL="0" indent="0">
              <a:spcAft>
                <a:spcPts val="0"/>
              </a:spcAft>
              <a:buNone/>
            </a:pPr>
            <a:r>
              <a:rPr lang="en-US" sz="4400" dirty="0">
                <a:solidFill>
                  <a:srgbClr val="215550"/>
                </a:solidFill>
                <a:latin typeface="Poppins SemiBold"/>
                <a:ea typeface="Poppins SemiBold"/>
                <a:cs typeface="Poppins SemiBold"/>
              </a:rPr>
              <a:t>28.0%</a:t>
            </a:r>
            <a:endParaRPr lang="en-US" sz="4400" dirty="0"/>
          </a:p>
        </p:txBody>
      </p:sp>
      <p:sp>
        <p:nvSpPr>
          <p:cNvPr id="10" name="AC 104"/>
          <p:cNvSpPr/>
          <p:nvPr/>
        </p:nvSpPr>
        <p:spPr>
          <a:xfrm>
            <a:off x="5394960" y="3227832"/>
            <a:ext cx="4526280" cy="1234440"/>
          </a:xfrm>
          <a:prstGeom prst="rect">
            <a:avLst/>
          </a:prstGeom>
          <a:noFill/>
          <a:ln>
            <a:noFill/>
          </a:ln>
        </p:spPr>
        <p:txBody>
          <a:bodyPr wrap="square" lIns="0" tIns="0" rIns="0" bIns="0" rtlCol="0" anchor="t"/>
          <a:lstStyle/>
          <a:p>
            <a:pPr algn="l" marL="0" indent="0">
              <a:lnSpc>
                <a:spcPct val="118000"/>
              </a:lnSpc>
              <a:spcAft>
                <a:spcPts val="0"/>
              </a:spcAft>
              <a:buNone/>
            </a:pPr>
            <a:r>
              <a:rPr lang="en-US" sz="1500" dirty="0">
                <a:solidFill>
                  <a:srgbClr val="4D4D4D"/>
                </a:solidFill>
                <a:latin typeface="Lato"/>
                <a:ea typeface="Lato"/>
                <a:cs typeface="Lato"/>
              </a:rPr>
              <a:t>of Nigerian adults saved through a savings club or a person outside the family in 2024, up from 24.7% in 2021.</a:t>
            </a:r>
            <a:r>
              <a:rPr lang="en-US" sz="1100" dirty="0">
                <a:solidFill>
                  <a:srgbClr val="8C8C8C"/>
                </a:solidFill>
                <a:latin typeface="Lato"/>
                <a:ea typeface="Lato"/>
                <a:cs typeface="Lato"/>
              </a:rPr>
              <a:t> [Global Findex 2025, World Bank]</a:t>
            </a:r>
            <a:endParaRPr lang="en-US" sz="1500" dirty="0"/>
          </a:p>
        </p:txBody>
      </p:sp>
      <p:sp>
        <p:nvSpPr>
          <p:cNvPr id="11" name="AC 105"/>
          <p:cNvSpPr/>
          <p:nvPr/>
        </p:nvSpPr>
        <p:spPr>
          <a:xfrm>
            <a:off x="2971800" y="4572000"/>
            <a:ext cx="6949440" cy="0"/>
          </a:xfrm>
          <a:prstGeom prst="line">
            <a:avLst/>
          </a:prstGeom>
          <a:noFill/>
          <a:ln w="12700">
            <a:solidFill>
              <a:srgbClr val="E3E3E3"/>
            </a:solidFill>
            <a:round/>
          </a:ln>
        </p:spPr>
        <p:txBody>
          <a:bodyPr wrap="square" lIns="0" tIns="0" rIns="0" bIns="0" rtlCol="0" anchor="t"/>
          <a:lstStyle/>
          <a:p>
            <a:endParaRPr lang="en-US" dirty="0"/>
          </a:p>
        </p:txBody>
      </p:sp>
      <p:sp>
        <p:nvSpPr>
          <p:cNvPr id="12" name="AC 106"/>
          <p:cNvSpPr/>
          <p:nvPr/>
        </p:nvSpPr>
        <p:spPr>
          <a:xfrm>
            <a:off x="2971800" y="4754880"/>
            <a:ext cx="2286000" cy="822960"/>
          </a:xfrm>
          <a:prstGeom prst="rect">
            <a:avLst/>
          </a:prstGeom>
          <a:noFill/>
          <a:ln>
            <a:noFill/>
          </a:ln>
        </p:spPr>
        <p:txBody>
          <a:bodyPr wrap="square" lIns="0" tIns="0" rIns="0" bIns="0" rtlCol="0" anchor="t"/>
          <a:lstStyle/>
          <a:p>
            <a:pPr algn="l" marL="0" indent="0">
              <a:spcAft>
                <a:spcPts val="0"/>
              </a:spcAft>
              <a:buNone/>
            </a:pPr>
            <a:r>
              <a:rPr lang="en-US" sz="4400" dirty="0">
                <a:solidFill>
                  <a:srgbClr val="215550"/>
                </a:solidFill>
                <a:latin typeface="Poppins SemiBold"/>
                <a:ea typeface="Poppins SemiBold"/>
                <a:cs typeface="Poppins SemiBold"/>
              </a:rPr>
              <a:t>11.7M</a:t>
            </a:r>
            <a:endParaRPr lang="en-US" sz="4400" dirty="0"/>
          </a:p>
        </p:txBody>
      </p:sp>
      <p:sp>
        <p:nvSpPr>
          <p:cNvPr id="13" name="AC 107"/>
          <p:cNvSpPr/>
          <p:nvPr/>
        </p:nvSpPr>
        <p:spPr>
          <a:xfrm>
            <a:off x="5394960" y="4828032"/>
            <a:ext cx="4526280" cy="1234440"/>
          </a:xfrm>
          <a:prstGeom prst="rect">
            <a:avLst/>
          </a:prstGeom>
          <a:noFill/>
          <a:ln>
            <a:noFill/>
          </a:ln>
        </p:spPr>
        <p:txBody>
          <a:bodyPr wrap="square" lIns="0" tIns="0" rIns="0" bIns="0" rtlCol="0" anchor="t"/>
          <a:lstStyle/>
          <a:p>
            <a:pPr algn="l" marL="0" indent="0">
              <a:lnSpc>
                <a:spcPct val="118000"/>
              </a:lnSpc>
              <a:spcAft>
                <a:spcPts val="0"/>
              </a:spcAft>
              <a:buNone/>
            </a:pPr>
            <a:r>
              <a:rPr lang="en-US" sz="1500" dirty="0">
                <a:solidFill>
                  <a:srgbClr val="4D4D4D"/>
                </a:solidFill>
                <a:latin typeface="Lato"/>
                <a:ea typeface="Lato"/>
                <a:cs typeface="Lato"/>
              </a:rPr>
              <a:t>adults use a savings group and </a:t>
            </a:r>
            <a:r>
              <a:rPr lang="en-US" sz="1500" dirty="0">
                <a:solidFill>
                  <a:srgbClr val="215550"/>
                </a:solidFill>
                <a:latin typeface="Poppins SemiBold"/>
                <a:ea typeface="Poppins SemiBold"/>
                <a:cs typeface="Poppins SemiBold"/>
              </a:rPr>
              <a:t>13.1M</a:t>
            </a:r>
            <a:r>
              <a:rPr lang="en-US" sz="1500" dirty="0">
                <a:solidFill>
                  <a:srgbClr val="4D4D4D"/>
                </a:solidFill>
                <a:latin typeface="Lato"/>
                <a:ea typeface="Lato"/>
                <a:cs typeface="Lato"/>
              </a:rPr>
              <a:t> use a savings/thrift collector.</a:t>
            </a:r>
            <a:r>
              <a:rPr lang="en-US" sz="1100" dirty="0">
                <a:solidFill>
                  <a:srgbClr val="8C8C8C"/>
                </a:solidFill>
                <a:latin typeface="Lato"/>
                <a:ea typeface="Lato"/>
                <a:cs typeface="Lato"/>
              </a:rPr>
              <a:t> [EFInA A2F 2023, Table 1]</a:t>
            </a:r>
            <a:endParaRPr lang="en-US" sz="1500" dirty="0"/>
          </a:p>
        </p:txBody>
      </p:sp>
      <p:sp>
        <p:nvSpPr>
          <p:cNvPr id="14" name="AC 108"/>
          <p:cNvSpPr/>
          <p:nvPr/>
        </p:nvSpPr>
        <p:spPr>
          <a:xfrm>
            <a:off x="2971800" y="6172200"/>
            <a:ext cx="6949440" cy="0"/>
          </a:xfrm>
          <a:prstGeom prst="line">
            <a:avLst/>
          </a:prstGeom>
          <a:noFill/>
          <a:ln w="12700">
            <a:solidFill>
              <a:srgbClr val="E3E3E3"/>
            </a:solidFill>
            <a:round/>
          </a:ln>
        </p:spPr>
        <p:txBody>
          <a:bodyPr wrap="square" lIns="0" tIns="0" rIns="0" bIns="0" rtlCol="0" anchor="t"/>
          <a:lstStyle/>
          <a:p>
            <a:endParaRPr lang="en-US" dirty="0"/>
          </a:p>
        </p:txBody>
      </p:sp>
      <p:sp>
        <p:nvSpPr>
          <p:cNvPr id="15" name="AC 109"/>
          <p:cNvSpPr/>
          <p:nvPr/>
        </p:nvSpPr>
        <p:spPr>
          <a:xfrm>
            <a:off x="2971800" y="6400800"/>
            <a:ext cx="694944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Where it breaks</a:t>
            </a:r>
            <a:endParaRPr lang="en-US" sz="1800" dirty="0"/>
          </a:p>
        </p:txBody>
      </p:sp>
      <p:sp>
        <p:nvSpPr>
          <p:cNvPr id="16" name="AC 110"/>
          <p:cNvSpPr/>
          <p:nvPr/>
        </p:nvSpPr>
        <p:spPr>
          <a:xfrm>
            <a:off x="2971800" y="6858000"/>
            <a:ext cx="6949440" cy="2286000"/>
          </a:xfrm>
          <a:prstGeom prst="rect">
            <a:avLst/>
          </a:prstGeom>
          <a:noFill/>
          <a:ln>
            <a:noFill/>
          </a:ln>
        </p:spPr>
        <p:txBody>
          <a:bodyPr wrap="square" lIns="0" tIns="0" rIns="0" bIns="0" rtlCol="0" anchor="t"/>
          <a:lstStyle/>
          <a:p>
            <a:pPr algn="l" marL="256032" indent="-256032">
              <a:lnSpc>
                <a:spcPct val="118000"/>
              </a:lnSpc>
              <a:spcAft>
                <a:spcPts val="1000"/>
              </a:spcAft>
              <a:buClr>
                <a:srgbClr val="F7931A"/>
              </a:buClr>
              <a:buFont typeface="Arial"/>
              <a:buChar char="•"/>
            </a:pPr>
            <a:r>
              <a:rPr lang="en-US" sz="1600" dirty="0">
                <a:solidFill>
                  <a:srgbClr val="262626"/>
                </a:solidFill>
                <a:latin typeface="Lato"/>
                <a:ea typeface="Lato"/>
                <a:cs typeface="Lato"/>
              </a:rPr>
              <a:t>One treasurer holds the cash and the records live in a chat, so if the organiser disappears, everyone loses.</a:t>
            </a:r>
            <a:endParaRPr lang="en-US" sz="1600" dirty="0"/>
          </a:p>
          <a:p>
            <a:pPr algn="l" marL="256032" indent="-256032">
              <a:lnSpc>
                <a:spcPct val="118000"/>
              </a:lnSpc>
              <a:spcAft>
                <a:spcPts val="0"/>
              </a:spcAft>
              <a:buClr>
                <a:srgbClr val="F7931A"/>
              </a:buClr>
              <a:buFont typeface="Arial"/>
              <a:buChar char="•"/>
            </a:pPr>
            <a:r>
              <a:rPr lang="en-US" sz="1600" dirty="0">
                <a:solidFill>
                  <a:srgbClr val="262626"/>
                </a:solidFill>
                <a:latin typeface="Lato"/>
                <a:ea typeface="Lato"/>
                <a:cs typeface="Lato"/>
              </a:rPr>
              <a:t>Members who've already collected can stop paying, and the group has no recourse.</a:t>
            </a:r>
            <a:endParaRPr lang="en-US" sz="1600" dirty="0"/>
          </a:p>
        </p:txBody>
      </p:sp>
      <p:sp>
        <p:nvSpPr>
          <p:cNvPr id="17" name="AC 111"/>
          <p:cNvSpPr/>
          <p:nvPr/>
        </p:nvSpPr>
        <p:spPr>
          <a:xfrm>
            <a:off x="10515600" y="914400"/>
            <a:ext cx="6858000" cy="8458200"/>
          </a:xfrm>
          <a:prstGeom prst="roundRect">
            <a:avLst>
              <a:gd name="adj" fmla="val 5000"/>
            </a:avLst>
          </a:prstGeom>
          <a:solidFill>
            <a:srgbClr val="215550"/>
          </a:solidFill>
          <a:ln>
            <a:noFill/>
          </a:ln>
        </p:spPr>
        <p:txBody>
          <a:bodyPr wrap="square" lIns="0" tIns="0" rIns="0" bIns="0" rtlCol="0" anchor="t"/>
          <a:lstStyle/>
          <a:p>
            <a:endParaRPr lang="en-US" dirty="0"/>
          </a:p>
        </p:txBody>
      </p:sp>
      <p:sp>
        <p:nvSpPr>
          <p:cNvPr id="18" name="AC 112"/>
          <p:cNvSpPr/>
          <p:nvPr/>
        </p:nvSpPr>
        <p:spPr>
          <a:xfrm>
            <a:off x="14904720" y="1463040"/>
            <a:ext cx="2011680" cy="2011680"/>
          </a:xfrm>
          <a:prstGeom prst="ellipse">
            <a:avLst/>
          </a:prstGeom>
          <a:solidFill>
            <a:srgbClr val="2C6A64"/>
          </a:solidFill>
          <a:ln>
            <a:noFill/>
          </a:ln>
        </p:spPr>
        <p:txBody>
          <a:bodyPr wrap="square" lIns="0" tIns="0" rIns="0" bIns="0" rtlCol="0" anchor="t"/>
          <a:lstStyle/>
          <a:p>
            <a:endParaRPr lang="en-US" dirty="0"/>
          </a:p>
        </p:txBody>
      </p:sp>
      <p:sp>
        <p:nvSpPr>
          <p:cNvPr id="19" name="AC 113"/>
          <p:cNvSpPr/>
          <p:nvPr/>
        </p:nvSpPr>
        <p:spPr>
          <a:xfrm>
            <a:off x="10881360" y="7680960"/>
            <a:ext cx="1188720" cy="1188720"/>
          </a:xfrm>
          <a:prstGeom prst="ellipse">
            <a:avLst/>
          </a:prstGeom>
          <a:solidFill>
            <a:srgbClr val="2C6A64"/>
          </a:solidFill>
          <a:ln>
            <a:noFill/>
          </a:ln>
        </p:spPr>
        <p:txBody>
          <a:bodyPr wrap="square" lIns="0" tIns="0" rIns="0" bIns="0" rtlCol="0" anchor="t"/>
          <a:lstStyle/>
          <a:p>
            <a:endParaRPr lang="en-US" dirty="0"/>
          </a:p>
        </p:txBody>
      </p:sp>
      <p:sp>
        <p:nvSpPr>
          <p:cNvPr id="20" name="AC 114"/>
          <p:cNvSpPr/>
          <p:nvPr/>
        </p:nvSpPr>
        <p:spPr>
          <a:xfrm>
            <a:off x="11247120" y="1645920"/>
            <a:ext cx="3246120" cy="6675120"/>
          </a:xfrm>
          <a:prstGeom prst="roundRect">
            <a:avLst>
              <a:gd name="adj" fmla="val 12000"/>
            </a:avLst>
          </a:prstGeom>
          <a:solidFill>
            <a:srgbClr val="1E1E1E"/>
          </a:solidFill>
          <a:ln>
            <a:noFill/>
          </a:ln>
          <a:effectLst>
            <a:outerShdw blurRad="190500" dist="38100" dir="5400000" algn="t" rotWithShape="0">
              <a:srgbClr val="000000">
                <a:alpha val="14000"/>
              </a:srgbClr>
            </a:outerShdw>
          </a:effectLst>
        </p:spPr>
        <p:txBody>
          <a:bodyPr wrap="square" lIns="0" tIns="0" rIns="0" bIns="0" rtlCol="0" anchor="t"/>
          <a:lstStyle/>
          <a:p>
            <a:endParaRPr lang="en-US" dirty="0"/>
          </a:p>
        </p:txBody>
      </p:sp>
      <p:sp>
        <p:nvSpPr>
          <p:cNvPr id="21" name="AC 115"/>
          <p:cNvSpPr/>
          <p:nvPr/>
        </p:nvSpPr>
        <p:spPr>
          <a:xfrm>
            <a:off x="11375136" y="2029968"/>
            <a:ext cx="2990088" cy="5907024"/>
          </a:xfrm>
          <a:prstGeom prst="rect">
            <a:avLst/>
          </a:prstGeom>
          <a:solidFill>
            <a:srgbClr val="F2EFE9"/>
          </a:solidFill>
          <a:ln>
            <a:noFill/>
          </a:ln>
        </p:spPr>
        <p:txBody>
          <a:bodyPr wrap="square" lIns="0" tIns="0" rIns="0" bIns="0" rtlCol="0" anchor="t"/>
          <a:lstStyle/>
          <a:p>
            <a:endParaRPr lang="en-US" dirty="0"/>
          </a:p>
        </p:txBody>
      </p:sp>
      <p:sp>
        <p:nvSpPr>
          <p:cNvPr id="22" name="AC 116"/>
          <p:cNvSpPr/>
          <p:nvPr/>
        </p:nvSpPr>
        <p:spPr>
          <a:xfrm>
            <a:off x="12550140" y="1801368"/>
            <a:ext cx="640080" cy="82296"/>
          </a:xfrm>
          <a:prstGeom prst="roundRect">
            <a:avLst>
              <a:gd name="adj" fmla="val 50000"/>
            </a:avLst>
          </a:prstGeom>
          <a:solidFill>
            <a:srgbClr val="444444"/>
          </a:solidFill>
          <a:ln>
            <a:noFill/>
          </a:ln>
        </p:spPr>
        <p:txBody>
          <a:bodyPr wrap="square" lIns="0" tIns="0" rIns="0" bIns="0" rtlCol="0" anchor="t"/>
          <a:lstStyle/>
          <a:p>
            <a:endParaRPr lang="en-US" dirty="0"/>
          </a:p>
        </p:txBody>
      </p:sp>
      <p:sp>
        <p:nvSpPr>
          <p:cNvPr id="23" name="AC 117"/>
          <p:cNvSpPr/>
          <p:nvPr/>
        </p:nvSpPr>
        <p:spPr>
          <a:xfrm>
            <a:off x="12714732" y="8010144"/>
            <a:ext cx="310896" cy="182880"/>
          </a:xfrm>
          <a:prstGeom prst="roundRect">
            <a:avLst>
              <a:gd name="adj" fmla="val 50000"/>
            </a:avLst>
          </a:prstGeom>
          <a:solidFill>
            <a:srgbClr val="444444"/>
          </a:solidFill>
          <a:ln>
            <a:noFill/>
          </a:ln>
        </p:spPr>
        <p:txBody>
          <a:bodyPr wrap="square" lIns="0" tIns="0" rIns="0" bIns="0" rtlCol="0" anchor="t"/>
          <a:lstStyle/>
          <a:p>
            <a:endParaRPr lang="en-US" dirty="0"/>
          </a:p>
        </p:txBody>
      </p:sp>
      <p:sp>
        <p:nvSpPr>
          <p:cNvPr id="24" name="AC 118"/>
          <p:cNvSpPr/>
          <p:nvPr/>
        </p:nvSpPr>
        <p:spPr>
          <a:xfrm>
            <a:off x="11375136" y="2029968"/>
            <a:ext cx="2990088" cy="566928"/>
          </a:xfrm>
          <a:prstGeom prst="rect">
            <a:avLst/>
          </a:prstGeom>
          <a:solidFill>
            <a:srgbClr val="1B4540"/>
          </a:solidFill>
          <a:ln>
            <a:noFill/>
          </a:ln>
        </p:spPr>
        <p:txBody>
          <a:bodyPr wrap="square" lIns="0" tIns="0" rIns="0" bIns="0" rtlCol="0" anchor="t"/>
          <a:lstStyle/>
          <a:p>
            <a:endParaRPr lang="en-US" dirty="0"/>
          </a:p>
        </p:txBody>
      </p:sp>
      <p:sp>
        <p:nvSpPr>
          <p:cNvPr id="25" name="AC 119"/>
          <p:cNvSpPr/>
          <p:nvPr/>
        </p:nvSpPr>
        <p:spPr>
          <a:xfrm>
            <a:off x="11484864" y="2139696"/>
            <a:ext cx="347472" cy="347472"/>
          </a:xfrm>
          <a:prstGeom prst="ellipse">
            <a:avLst/>
          </a:prstGeom>
          <a:solidFill>
            <a:srgbClr val="F7931A"/>
          </a:solidFill>
          <a:ln>
            <a:noFill/>
          </a:ln>
        </p:spPr>
        <p:txBody>
          <a:bodyPr wrap="square" lIns="0" tIns="0" rIns="0" bIns="0" rtlCol="0" anchor="t"/>
          <a:lstStyle/>
          <a:p>
            <a:endParaRPr lang="en-US" dirty="0"/>
          </a:p>
        </p:txBody>
      </p:sp>
      <p:sp>
        <p:nvSpPr>
          <p:cNvPr id="26" name="AC 120"/>
          <p:cNvSpPr/>
          <p:nvPr/>
        </p:nvSpPr>
        <p:spPr>
          <a:xfrm>
            <a:off x="11905488" y="2066544"/>
            <a:ext cx="2286000" cy="548640"/>
          </a:xfrm>
          <a:prstGeom prst="rect">
            <a:avLst/>
          </a:prstGeom>
          <a:noFill/>
          <a:ln>
            <a:noFill/>
          </a:ln>
        </p:spPr>
        <p:txBody>
          <a:bodyPr wrap="square" lIns="0" tIns="0" rIns="0" bIns="0" rtlCol="0" anchor="ctr"/>
          <a:lstStyle/>
          <a:p>
            <a:pPr algn="l" marL="0" indent="0">
              <a:spcAft>
                <a:spcPts val="0"/>
              </a:spcAft>
              <a:buNone/>
            </a:pPr>
            <a:r>
              <a:rPr lang="en-US" sz="1200" dirty="0">
                <a:solidFill>
                  <a:srgbClr val="FFFFFF"/>
                </a:solidFill>
                <a:latin typeface="Poppins SemiBold"/>
                <a:ea typeface="Poppins SemiBold"/>
                <a:cs typeface="Poppins SemiBold"/>
              </a:rPr>
              <a:t>Ajo Group</a:t>
            </a:r>
            <a:endParaRPr lang="en-US" sz="1200" dirty="0"/>
          </a:p>
          <a:p>
            <a:pPr algn="l" marL="0" indent="0">
              <a:spcAft>
                <a:spcPts val="0"/>
              </a:spcAft>
              <a:buNone/>
            </a:pPr>
            <a:r>
              <a:rPr lang="en-US" sz="900" dirty="0">
                <a:solidFill>
                  <a:srgbClr val="C9DAD6"/>
                </a:solidFill>
                <a:latin typeface="Lato"/>
                <a:ea typeface="Lato"/>
                <a:cs typeface="Lato"/>
              </a:rPr>
              <a:t>12 members</a:t>
            </a:r>
            <a:endParaRPr lang="en-US" sz="900" dirty="0"/>
          </a:p>
        </p:txBody>
      </p:sp>
      <p:sp>
        <p:nvSpPr>
          <p:cNvPr id="27" name="AC 121"/>
          <p:cNvSpPr/>
          <p:nvPr/>
        </p:nvSpPr>
        <p:spPr>
          <a:xfrm>
            <a:off x="11512296" y="2807208"/>
            <a:ext cx="2103120" cy="457200"/>
          </a:xfrm>
          <a:prstGeom prst="roundRect">
            <a:avLst>
              <a:gd name="adj" fmla="val 22000"/>
            </a:avLst>
          </a:prstGeom>
          <a:solidFill>
            <a:srgbClr val="FFFFFF"/>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b="1" dirty="0">
                <a:solidFill>
                  <a:srgbClr val="C0392B"/>
                </a:solidFill>
                <a:latin typeface="Lato"/>
                <a:ea typeface="Lato"/>
                <a:cs typeface="Lato"/>
              </a:rPr>
              <a:t>Who never pay?</a:t>
            </a:r>
            <a:endParaRPr lang="en-US" sz="1200" dirty="0"/>
          </a:p>
        </p:txBody>
      </p:sp>
      <p:sp>
        <p:nvSpPr>
          <p:cNvPr id="28" name="AC 122"/>
          <p:cNvSpPr/>
          <p:nvPr/>
        </p:nvSpPr>
        <p:spPr>
          <a:xfrm>
            <a:off x="12060936" y="3447288"/>
            <a:ext cx="2103120" cy="457200"/>
          </a:xfrm>
          <a:prstGeom prst="roundRect">
            <a:avLst>
              <a:gd name="adj" fmla="val 22000"/>
            </a:avLst>
          </a:prstGeom>
          <a:solidFill>
            <a:srgbClr val="DCF3D9"/>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dirty="0">
                <a:solidFill>
                  <a:srgbClr val="262626"/>
                </a:solidFill>
                <a:latin typeface="Lato"/>
                <a:ea typeface="Lato"/>
                <a:cs typeface="Lato"/>
              </a:rPr>
              <a:t>I paid on Monday!</a:t>
            </a:r>
            <a:endParaRPr lang="en-US" sz="1200" dirty="0"/>
          </a:p>
        </p:txBody>
      </p:sp>
      <p:sp>
        <p:nvSpPr>
          <p:cNvPr id="29" name="AC 123"/>
          <p:cNvSpPr/>
          <p:nvPr/>
        </p:nvSpPr>
        <p:spPr>
          <a:xfrm>
            <a:off x="11512296" y="4087368"/>
            <a:ext cx="2514600" cy="685800"/>
          </a:xfrm>
          <a:prstGeom prst="roundRect">
            <a:avLst>
              <a:gd name="adj" fmla="val 22000"/>
            </a:avLst>
          </a:prstGeom>
          <a:solidFill>
            <a:srgbClr val="FFFFFF"/>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dirty="0">
                <a:solidFill>
                  <a:srgbClr val="262626"/>
                </a:solidFill>
                <a:latin typeface="Lato"/>
                <a:ea typeface="Lato"/>
                <a:cs typeface="Lato"/>
              </a:rPr>
              <a:t>Treasurer, where is the money??</a:t>
            </a:r>
            <a:endParaRPr lang="en-US" sz="1200" dirty="0"/>
          </a:p>
        </p:txBody>
      </p:sp>
      <p:sp>
        <p:nvSpPr>
          <p:cNvPr id="30" name="AC 124"/>
          <p:cNvSpPr/>
          <p:nvPr/>
        </p:nvSpPr>
        <p:spPr>
          <a:xfrm>
            <a:off x="12243816" y="4956048"/>
            <a:ext cx="1920240" cy="457200"/>
          </a:xfrm>
          <a:prstGeom prst="roundRect">
            <a:avLst>
              <a:gd name="adj" fmla="val 22000"/>
            </a:avLst>
          </a:prstGeom>
          <a:solidFill>
            <a:srgbClr val="DCF3D9"/>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dirty="0">
                <a:solidFill>
                  <a:srgbClr val="262626"/>
                </a:solidFill>
                <a:latin typeface="Lato"/>
                <a:ea typeface="Lato"/>
                <a:cs typeface="Lato"/>
              </a:rPr>
              <a:t>Who has the list?</a:t>
            </a:r>
            <a:endParaRPr lang="en-US" sz="1200" dirty="0"/>
          </a:p>
        </p:txBody>
      </p:sp>
      <p:sp>
        <p:nvSpPr>
          <p:cNvPr id="31" name="AC 125"/>
          <p:cNvSpPr/>
          <p:nvPr/>
        </p:nvSpPr>
        <p:spPr>
          <a:xfrm>
            <a:off x="11512296" y="5596128"/>
            <a:ext cx="2194560" cy="457200"/>
          </a:xfrm>
          <a:prstGeom prst="roundRect">
            <a:avLst>
              <a:gd name="adj" fmla="val 22000"/>
            </a:avLst>
          </a:prstGeom>
          <a:solidFill>
            <a:srgbClr val="FFFFFF"/>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dirty="0">
                <a:solidFill>
                  <a:srgbClr val="262626"/>
                </a:solidFill>
                <a:latin typeface="Lato"/>
                <a:ea typeface="Lato"/>
                <a:cs typeface="Lato"/>
              </a:rPr>
              <a:t>Still waiting…</a:t>
            </a:r>
            <a:endParaRPr lang="en-US" sz="1200" dirty="0"/>
          </a:p>
        </p:txBody>
      </p:sp>
      <p:sp>
        <p:nvSpPr>
          <p:cNvPr id="32" name="AC 126"/>
          <p:cNvSpPr/>
          <p:nvPr/>
        </p:nvSpPr>
        <p:spPr>
          <a:xfrm>
            <a:off x="11512296" y="6236208"/>
            <a:ext cx="2331720" cy="457200"/>
          </a:xfrm>
          <a:prstGeom prst="roundRect">
            <a:avLst>
              <a:gd name="adj" fmla="val 22000"/>
            </a:avLst>
          </a:prstGeom>
          <a:solidFill>
            <a:srgbClr val="FFFFFF"/>
          </a:solidFill>
          <a:ln>
            <a:noFill/>
          </a:ln>
          <a:effectLst>
            <a:outerShdw blurRad="190500" dist="38100" dir="5400000" algn="t" rotWithShape="0">
              <a:srgbClr val="000000">
                <a:alpha val="14000"/>
              </a:srgbClr>
            </a:outerShdw>
          </a:effectLst>
        </p:spPr>
        <p:txBody>
          <a:bodyPr wrap="square" lIns="109728" tIns="36576" rIns="91440" bIns="36576" rtlCol="0" anchor="ctr"/>
          <a:lstStyle/>
          <a:p>
            <a:pPr algn="l" marL="0" indent="0">
              <a:spcAft>
                <a:spcPts val="0"/>
              </a:spcAft>
              <a:buNone/>
            </a:pPr>
            <a:r>
              <a:rPr lang="en-US" sz="1200" b="1" dirty="0">
                <a:solidFill>
                  <a:srgbClr val="C0392B"/>
                </a:solidFill>
                <a:latin typeface="Lato"/>
                <a:ea typeface="Lato"/>
                <a:cs typeface="Lato"/>
              </a:rPr>
              <a:t>Who never pay?</a:t>
            </a:r>
            <a:endParaRPr lang="en-US" sz="1200" dirty="0"/>
          </a:p>
        </p:txBody>
      </p:sp>
      <p:sp>
        <p:nvSpPr>
          <p:cNvPr id="33" name="AC 127"/>
          <p:cNvSpPr/>
          <p:nvPr/>
        </p:nvSpPr>
        <p:spPr>
          <a:xfrm>
            <a:off x="11484864" y="7388352"/>
            <a:ext cx="2770632" cy="384048"/>
          </a:xfrm>
          <a:prstGeom prst="roundRect">
            <a:avLst>
              <a:gd name="adj" fmla="val 50000"/>
            </a:avLst>
          </a:prstGeom>
          <a:solidFill>
            <a:srgbClr val="FFFFFF"/>
          </a:solidFill>
          <a:ln w="12700">
            <a:solidFill>
              <a:srgbClr val="DDDDDD"/>
            </a:solidFill>
            <a:round/>
          </a:ln>
        </p:spPr>
        <p:txBody>
          <a:bodyPr wrap="square" lIns="0" tIns="0" rIns="0" bIns="0" rtlCol="0" anchor="t"/>
          <a:lstStyle/>
          <a:p>
            <a:endParaRPr lang="en-US" dirty="0"/>
          </a:p>
        </p:txBody>
      </p:sp>
      <p:sp>
        <p:nvSpPr>
          <p:cNvPr id="34" name="AC 128"/>
          <p:cNvSpPr/>
          <p:nvPr/>
        </p:nvSpPr>
        <p:spPr>
          <a:xfrm rot="-480000">
            <a:off x="14218920" y="5532120"/>
            <a:ext cx="2377440" cy="914400"/>
          </a:xfrm>
          <a:prstGeom prst="rect">
            <a:avLst/>
          </a:prstGeom>
          <a:solidFill>
            <a:srgbClr val="6FA86B"/>
          </a:solidFill>
          <a:ln w="12700">
            <a:solidFill>
              <a:srgbClr val="4E8A4B"/>
            </a:solidFill>
            <a:round/>
          </a:ln>
        </p:spPr>
        <p:txBody>
          <a:bodyPr wrap="square" lIns="0" tIns="0" rIns="0" bIns="0" rtlCol="0" anchor="t"/>
          <a:lstStyle/>
          <a:p>
            <a:endParaRPr lang="en-US" dirty="0"/>
          </a:p>
        </p:txBody>
      </p:sp>
      <p:sp>
        <p:nvSpPr>
          <p:cNvPr id="35" name="AC 129"/>
          <p:cNvSpPr/>
          <p:nvPr/>
        </p:nvSpPr>
        <p:spPr>
          <a:xfrm rot="300000">
            <a:off x="14447520" y="5349240"/>
            <a:ext cx="2377440" cy="914400"/>
          </a:xfrm>
          <a:prstGeom prst="rect">
            <a:avLst/>
          </a:prstGeom>
          <a:solidFill>
            <a:srgbClr val="85BC80"/>
          </a:solidFill>
          <a:ln w="12700">
            <a:solidFill>
              <a:srgbClr val="4E8A4B"/>
            </a:solidFill>
            <a:round/>
          </a:ln>
        </p:spPr>
        <p:txBody>
          <a:bodyPr wrap="square" lIns="0" tIns="0" rIns="0" bIns="0" rtlCol="0" anchor="t"/>
          <a:lstStyle/>
          <a:p>
            <a:endParaRPr lang="en-US" dirty="0"/>
          </a:p>
        </p:txBody>
      </p:sp>
      <p:sp>
        <p:nvSpPr>
          <p:cNvPr id="36" name="AC 130"/>
          <p:cNvSpPr/>
          <p:nvPr/>
        </p:nvSpPr>
        <p:spPr>
          <a:xfrm>
            <a:off x="14081760" y="5989320"/>
            <a:ext cx="2834640" cy="1828800"/>
          </a:xfrm>
          <a:prstGeom prst="rect">
            <a:avLst/>
          </a:prstGeom>
          <a:solidFill>
            <a:srgbClr val="F2D3A0"/>
          </a:solidFill>
          <a:ln w="15875">
            <a:solidFill>
              <a:srgbClr val="C9A46A"/>
            </a:solidFill>
            <a:round/>
          </a:ln>
        </p:spPr>
        <p:txBody>
          <a:bodyPr wrap="square" lIns="0" tIns="0" rIns="0" bIns="0" rtlCol="0" anchor="t"/>
          <a:lstStyle/>
          <a:p>
            <a:endParaRPr lang="en-US" dirty="0"/>
          </a:p>
        </p:txBody>
      </p:sp>
      <p:sp>
        <p:nvSpPr>
          <p:cNvPr id="37" name="AC 131"/>
          <p:cNvSpPr/>
          <p:nvPr/>
        </p:nvSpPr>
        <p:spPr>
          <a:xfrm flipV="1">
            <a:off x="14081760" y="5989320"/>
            <a:ext cx="2834640" cy="1005840"/>
          </a:xfrm>
          <a:prstGeom prst="triangle">
            <a:avLst/>
          </a:prstGeom>
          <a:solidFill>
            <a:srgbClr val="E8C285"/>
          </a:solidFill>
          <a:ln w="15875">
            <a:solidFill>
              <a:srgbClr val="C9A46A"/>
            </a:solidFill>
            <a:round/>
          </a:ln>
        </p:spPr>
        <p:txBody>
          <a:bodyPr wrap="square" lIns="0" tIns="0" rIns="0" bIns="0" rtlCol="0" anchor="t"/>
          <a:lstStyle/>
          <a:p>
            <a:endParaRPr lang="en-US" dirty="0"/>
          </a:p>
        </p:txBody>
      </p:sp>
      <p:sp>
        <p:nvSpPr>
          <p:cNvPr id="38" name="AC 132"/>
          <p:cNvSpPr/>
          <p:nvPr/>
        </p:nvSpPr>
        <p:spPr>
          <a:xfrm>
            <a:off x="14630400" y="7589520"/>
            <a:ext cx="548640" cy="640080"/>
          </a:xfrm>
          <a:prstGeom prst="line">
            <a:avLst/>
          </a:prstGeom>
          <a:noFill/>
          <a:ln w="25400">
            <a:solidFill>
              <a:srgbClr val="F2D3A0"/>
            </a:solidFill>
            <a:round/>
          </a:ln>
        </p:spPr>
        <p:txBody>
          <a:bodyPr wrap="square" lIns="0" tIns="0" rIns="0" bIns="0" rtlCol="0" anchor="t"/>
          <a:lstStyle/>
          <a:p>
            <a:endParaRPr lang="en-US" dirty="0"/>
          </a:p>
        </p:txBody>
      </p:sp>
      <p:sp>
        <p:nvSpPr>
          <p:cNvPr id="39" name="AC 133"/>
          <p:cNvSpPr/>
          <p:nvPr/>
        </p:nvSpPr>
        <p:spPr>
          <a:xfrm rot="-600000">
            <a:off x="14904720" y="8001000"/>
            <a:ext cx="1600200" cy="603504"/>
          </a:xfrm>
          <a:prstGeom prst="roundRect">
            <a:avLst>
              <a:gd name="adj" fmla="val 30000"/>
            </a:avLst>
          </a:prstGeom>
          <a:solidFill>
            <a:srgbClr val="D64545"/>
          </a:solidFill>
          <a:ln>
            <a:noFill/>
          </a:ln>
        </p:spPr>
        <p:txBody>
          <a:bodyPr wrap="square" lIns="0" tIns="0" rIns="0" bIns="0" rtlCol="0" anchor="ctr"/>
          <a:lstStyle/>
          <a:p>
            <a:pPr algn="ctr" marL="0" indent="0">
              <a:spcAft>
                <a:spcPts val="0"/>
              </a:spcAft>
              <a:buNone/>
            </a:pPr>
            <a:r>
              <a:rPr lang="en-US" sz="2000" dirty="0">
                <a:solidFill>
                  <a:srgbClr val="FFFFFF"/>
                </a:solidFill>
                <a:latin typeface="Poppins SemiBold"/>
                <a:ea typeface="Poppins SemiBold"/>
                <a:cs typeface="Poppins SemiBold"/>
              </a:rPr>
              <a:t>trust</a:t>
            </a:r>
            <a:endParaRPr lang="en-US" sz="2000" dirty="0"/>
          </a:p>
        </p:txBody>
      </p:sp>
      <p:sp>
        <p:nvSpPr>
          <p:cNvPr id="40" name="AC 134"/>
          <p:cNvSpPr/>
          <p:nvPr/>
        </p:nvSpPr>
        <p:spPr>
          <a:xfrm>
            <a:off x="15014448" y="8211312"/>
            <a:ext cx="118872" cy="118872"/>
          </a:xfrm>
          <a:prstGeom prst="ellipse">
            <a:avLst/>
          </a:prstGeom>
          <a:solidFill>
            <a:srgbClr val="F2D3A0"/>
          </a:solidFill>
          <a:ln>
            <a:noFill/>
          </a:ln>
        </p:spPr>
        <p:txBody>
          <a:bodyPr wrap="square" lIns="0" tIns="0" rIns="0" bIns="0" rtlCol="0" anchor="t"/>
          <a:lstStyle/>
          <a:p>
            <a:endParaRPr lang="en-US" dirty="0"/>
          </a:p>
        </p:txBody>
      </p:sp>
      <p:sp>
        <p:nvSpPr>
          <p:cNvPr id="41"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42"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784848" y="3453689"/>
            <a:ext cx="5815584" cy="3675888"/>
          </a:xfrm>
          <a:prstGeom prst="roundRect">
            <a:avLst>
              <a:gd name="adj" fmla="val 2985"/>
            </a:avLst>
          </a:prstGeom>
          <a:solidFill>
            <a:srgbClr val="222222"/>
          </a:solidFill>
          <a:ln/>
        </p:spPr>
      </p:sp>
      <p:sp>
        <p:nvSpPr>
          <p:cNvPr id="3" name="Shape 1"/>
          <p:cNvSpPr/>
          <p:nvPr/>
        </p:nvSpPr>
        <p:spPr>
          <a:xfrm>
            <a:off x="6953098" y="3597250"/>
            <a:ext cx="5524805" cy="3383280"/>
          </a:xfrm>
          <a:prstGeom prst="rect">
            <a:avLst/>
          </a:prstGeom>
          <a:solidFill>
            <a:srgbClr val="999999"/>
          </a:solidFill>
          <a:ln/>
        </p:spPr>
      </p:sp>
      <p:sp>
        <p:nvSpPr>
          <p:cNvPr id="4" name="Shape 2"/>
          <p:cNvSpPr/>
          <p:nvPr/>
        </p:nvSpPr>
        <p:spPr>
          <a:xfrm>
            <a:off x="6251753" y="7128662"/>
            <a:ext cx="6927494" cy="310896"/>
          </a:xfrm>
          <a:prstGeom prst="trapezoid">
            <a:avLst/>
          </a:prstGeom>
          <a:solidFill>
            <a:srgbClr val="B7B7B7"/>
          </a:solidFill>
          <a:ln/>
        </p:spPr>
      </p:sp>
      <p:sp>
        <p:nvSpPr>
          <p:cNvPr id="5" name="Shape 3"/>
          <p:cNvSpPr/>
          <p:nvPr/>
        </p:nvSpPr>
        <p:spPr>
          <a:xfrm>
            <a:off x="6251753" y="7360920"/>
            <a:ext cx="6927494" cy="118872"/>
          </a:xfrm>
          <a:prstGeom prst="roundRect">
            <a:avLst>
              <a:gd name="adj" fmla="val 46154"/>
            </a:avLst>
          </a:prstGeom>
          <a:solidFill>
            <a:srgbClr val="9A9A9A"/>
          </a:solidFill>
          <a:ln/>
        </p:spPr>
      </p:sp>
      <p:sp>
        <p:nvSpPr>
          <p:cNvPr id="6" name="Shape 15"/>
          <p:cNvSpPr/>
          <p:nvPr/>
        </p:nvSpPr>
        <p:spPr>
          <a:xfrm>
            <a:off x="228600" y="228600"/>
            <a:ext cx="914400" cy="9829800"/>
          </a:xfrm>
          <a:prstGeom prst="roundRect">
            <a:avLst>
              <a:gd name="adj" fmla="val 50000"/>
            </a:avLst>
          </a:prstGeom>
          <a:solidFill>
            <a:srgbClr val="F7931A"/>
          </a:solidFill>
          <a:ln/>
        </p:spPr>
      </p:sp>
      <p:sp>
        <p:nvSpPr>
          <p:cNvPr id="7" name="Text 16"/>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8" name="Shape 17"/>
          <p:cNvSpPr/>
          <p:nvPr/>
        </p:nvSpPr>
        <p:spPr>
          <a:xfrm>
            <a:off x="476402" y="476402"/>
            <a:ext cx="418795" cy="418795"/>
          </a:xfrm>
          <a:prstGeom prst="ellipse">
            <a:avLst/>
          </a:prstGeom>
          <a:solidFill>
            <a:srgbClr val="FFFFFF"/>
          </a:solidFill>
          <a:ln/>
        </p:spPr>
      </p:sp>
      <p:sp>
        <p:nvSpPr>
          <p:cNvPr id="9" name="Text 22"/>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04.</a:t>
            </a:r>
            <a:endParaRPr lang="en-US" sz="1800" dirty="0"/>
          </a:p>
        </p:txBody>
      </p:sp>
      <p:sp>
        <p:nvSpPr>
          <p:cNvPr id="10" name="Shape 23"/>
          <p:cNvSpPr/>
          <p:nvPr/>
        </p:nvSpPr>
        <p:spPr>
          <a:xfrm>
            <a:off x="685800" y="4251960"/>
            <a:ext cx="0" cy="4632350"/>
          </a:xfrm>
          <a:prstGeom prst="line">
            <a:avLst/>
          </a:prstGeom>
          <a:noFill/>
          <a:ln w="38100">
            <a:solidFill>
              <a:srgbClr val="FFFFFF"/>
            </a:solidFill>
            <a:prstDash val="solid"/>
          </a:ln>
        </p:spPr>
      </p:sp>
      <p:sp>
        <p:nvSpPr>
          <p:cNvPr id="11" name="AC 101"/>
          <p:cNvSpPr/>
          <p:nvPr/>
        </p:nvSpPr>
        <p:spPr>
          <a:xfrm>
            <a:off x="2971800" y="914400"/>
            <a:ext cx="13487400" cy="384048"/>
          </a:xfrm>
          <a:prstGeom prst="rect">
            <a:avLst/>
          </a:prstGeom>
          <a:noFill/>
          <a:ln>
            <a:noFill/>
          </a:ln>
        </p:spPr>
        <p:txBody>
          <a:bodyPr wrap="square" lIns="0" tIns="0" rIns="0" bIns="0" rtlCol="0" anchor="t"/>
          <a:lstStyle/>
          <a:p>
            <a:pPr algn="ctr" marL="0" indent="0">
              <a:spcAft>
                <a:spcPts val="0"/>
              </a:spcAft>
              <a:buNone/>
            </a:pPr>
            <a:r>
              <a:rPr lang="en-US" sz="1800" spc="100" dirty="0">
                <a:solidFill>
                  <a:srgbClr val="F7931A"/>
                </a:solidFill>
                <a:latin typeface="Poppins Medium"/>
                <a:ea typeface="Poppins Medium"/>
                <a:cs typeface="Poppins Medium"/>
              </a:rPr>
              <a:t>Demo</a:t>
            </a:r>
            <a:endParaRPr lang="en-US" sz="1800" dirty="0"/>
          </a:p>
        </p:txBody>
      </p:sp>
      <p:sp>
        <p:nvSpPr>
          <p:cNvPr id="12" name="AC 102"/>
          <p:cNvSpPr/>
          <p:nvPr/>
        </p:nvSpPr>
        <p:spPr>
          <a:xfrm>
            <a:off x="2971800" y="1280160"/>
            <a:ext cx="13487400" cy="868680"/>
          </a:xfrm>
          <a:prstGeom prst="rect">
            <a:avLst/>
          </a:prstGeom>
          <a:noFill/>
          <a:ln>
            <a:noFill/>
          </a:ln>
        </p:spPr>
        <p:txBody>
          <a:bodyPr wrap="square" lIns="0" tIns="0" rIns="0" bIns="0" rtlCol="0" anchor="t"/>
          <a:lstStyle/>
          <a:p>
            <a:pPr algn="ctr" marL="0" indent="0">
              <a:spcAft>
                <a:spcPts val="0"/>
              </a:spcAft>
              <a:buNone/>
            </a:pPr>
            <a:r>
              <a:rPr lang="en-US" sz="4400" dirty="0">
                <a:solidFill>
                  <a:srgbClr val="262626"/>
                </a:solidFill>
                <a:latin typeface="Poppins SemiBold"/>
                <a:ea typeface="Poppins SemiBold"/>
                <a:cs typeface="Poppins SemiBold"/>
              </a:rPr>
              <a:t>Live on Mezo testnet today</a:t>
            </a:r>
            <a:endParaRPr lang="en-US" sz="4400" dirty="0"/>
          </a:p>
        </p:txBody>
      </p:sp>
      <p:sp>
        <p:nvSpPr>
          <p:cNvPr id="13" name="AC 103"/>
          <p:cNvSpPr/>
          <p:nvPr/>
        </p:nvSpPr>
        <p:spPr>
          <a:xfrm>
            <a:off x="2971800" y="4160520"/>
            <a:ext cx="548640" cy="54864"/>
          </a:xfrm>
          <a:prstGeom prst="rect">
            <a:avLst/>
          </a:prstGeom>
          <a:solidFill>
            <a:srgbClr val="F7931A"/>
          </a:solidFill>
          <a:ln>
            <a:noFill/>
          </a:ln>
        </p:spPr>
        <p:txBody>
          <a:bodyPr wrap="square" lIns="0" tIns="0" rIns="0" bIns="0" rtlCol="0" anchor="t"/>
          <a:lstStyle/>
          <a:p>
            <a:endParaRPr lang="en-US" dirty="0"/>
          </a:p>
        </p:txBody>
      </p:sp>
      <p:sp>
        <p:nvSpPr>
          <p:cNvPr id="14" name="AC 104"/>
          <p:cNvSpPr/>
          <p:nvPr/>
        </p:nvSpPr>
        <p:spPr>
          <a:xfrm>
            <a:off x="2971800" y="4297680"/>
            <a:ext cx="329184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Shown in the demo</a:t>
            </a:r>
            <a:endParaRPr lang="en-US" sz="1800" dirty="0"/>
          </a:p>
        </p:txBody>
      </p:sp>
      <p:sp>
        <p:nvSpPr>
          <p:cNvPr id="15" name="AC 105"/>
          <p:cNvSpPr/>
          <p:nvPr/>
        </p:nvSpPr>
        <p:spPr>
          <a:xfrm>
            <a:off x="2971800" y="4736592"/>
            <a:ext cx="3291840" cy="2011680"/>
          </a:xfrm>
          <a:prstGeom prst="rect">
            <a:avLst/>
          </a:prstGeom>
          <a:noFill/>
          <a:ln>
            <a:noFill/>
          </a:ln>
        </p:spPr>
        <p:txBody>
          <a:bodyPr wrap="square" lIns="0" tIns="0" rIns="0" bIns="0" rtlCol="0" anchor="t"/>
          <a:lstStyle/>
          <a:p>
            <a:pPr algn="l" marL="0" indent="0">
              <a:lnSpc>
                <a:spcPct val="120000"/>
              </a:lnSpc>
              <a:spcAft>
                <a:spcPts val="0"/>
              </a:spcAft>
              <a:buNone/>
            </a:pPr>
            <a:r>
              <a:rPr lang="en-US" sz="1600" dirty="0">
                <a:solidFill>
                  <a:srgbClr val="4D4D4D"/>
                </a:solidFill>
                <a:latin typeface="Lato"/>
                <a:ea typeface="Lato"/>
                <a:cs typeface="Lato"/>
              </a:rPr>
              <a:t>Create a circle, join by link, contribute, the auto-payout, and settling a missed round.</a:t>
            </a:r>
            <a:endParaRPr lang="en-US" sz="1600" dirty="0"/>
          </a:p>
        </p:txBody>
      </p:sp>
      <p:sp>
        <p:nvSpPr>
          <p:cNvPr id="16" name="AC 106"/>
          <p:cNvSpPr/>
          <p:nvPr/>
        </p:nvSpPr>
        <p:spPr>
          <a:xfrm>
            <a:off x="13179247" y="4160520"/>
            <a:ext cx="548640" cy="54864"/>
          </a:xfrm>
          <a:prstGeom prst="rect">
            <a:avLst/>
          </a:prstGeom>
          <a:solidFill>
            <a:srgbClr val="F7931A"/>
          </a:solidFill>
          <a:ln>
            <a:noFill/>
          </a:ln>
        </p:spPr>
        <p:txBody>
          <a:bodyPr wrap="square" lIns="0" tIns="0" rIns="0" bIns="0" rtlCol="0" anchor="t"/>
          <a:lstStyle/>
          <a:p>
            <a:endParaRPr lang="en-US" dirty="0"/>
          </a:p>
        </p:txBody>
      </p:sp>
      <p:sp>
        <p:nvSpPr>
          <p:cNvPr id="17" name="AC 107"/>
          <p:cNvSpPr/>
          <p:nvPr/>
        </p:nvSpPr>
        <p:spPr>
          <a:xfrm>
            <a:off x="13179247" y="4297680"/>
            <a:ext cx="329184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Onchain history</a:t>
            </a:r>
            <a:endParaRPr lang="en-US" sz="1800" dirty="0"/>
          </a:p>
        </p:txBody>
      </p:sp>
      <p:sp>
        <p:nvSpPr>
          <p:cNvPr id="18" name="AC 108"/>
          <p:cNvSpPr/>
          <p:nvPr/>
        </p:nvSpPr>
        <p:spPr>
          <a:xfrm>
            <a:off x="13179247" y="4736592"/>
            <a:ext cx="3291840" cy="2011680"/>
          </a:xfrm>
          <a:prstGeom prst="rect">
            <a:avLst/>
          </a:prstGeom>
          <a:noFill/>
          <a:ln>
            <a:noFill/>
          </a:ln>
        </p:spPr>
        <p:txBody>
          <a:bodyPr wrap="square" lIns="0" tIns="0" rIns="0" bIns="0" rtlCol="0" anchor="t"/>
          <a:lstStyle/>
          <a:p>
            <a:pPr algn="l" marL="0" indent="0">
              <a:lnSpc>
                <a:spcPct val="120000"/>
              </a:lnSpc>
              <a:spcAft>
                <a:spcPts val="0"/>
              </a:spcAft>
              <a:buNone/>
            </a:pPr>
            <a:r>
              <a:rPr lang="en-US" sz="1600" dirty="0">
                <a:solidFill>
                  <a:srgbClr val="4D4D4D"/>
                </a:solidFill>
                <a:latin typeface="Lato"/>
                <a:ea typeface="Lato"/>
                <a:cs typeface="Lato"/>
              </a:rPr>
              <a:t>Every action emits an onchain event, and the History tab is rebuilt from the chain.</a:t>
            </a:r>
            <a:endParaRPr lang="en-US" sz="1600" dirty="0"/>
          </a:p>
        </p:txBody>
      </p:sp>
      <p:sp>
        <p:nvSpPr>
          <p:cNvPr id="19" name="AC 109"/>
          <p:cNvSpPr/>
          <p:nvPr/>
        </p:nvSpPr>
        <p:spPr>
          <a:xfrm>
            <a:off x="6953098" y="3597250"/>
            <a:ext cx="5524805" cy="3383280"/>
          </a:xfrm>
          <a:prstGeom prst="rect">
            <a:avLst/>
          </a:prstGeom>
          <a:solidFill>
            <a:srgbClr val="F5F5F2"/>
          </a:solidFill>
          <a:ln>
            <a:noFill/>
          </a:ln>
        </p:spPr>
        <p:txBody>
          <a:bodyPr wrap="square" lIns="0" tIns="0" rIns="0" bIns="0" rtlCol="0" anchor="t"/>
          <a:lstStyle/>
          <a:p>
            <a:endParaRPr lang="en-US" dirty="0"/>
          </a:p>
        </p:txBody>
      </p:sp>
      <p:sp>
        <p:nvSpPr>
          <p:cNvPr id="20" name="AC 110"/>
          <p:cNvSpPr/>
          <p:nvPr/>
        </p:nvSpPr>
        <p:spPr>
          <a:xfrm>
            <a:off x="6953098" y="3597250"/>
            <a:ext cx="5524805" cy="411480"/>
          </a:xfrm>
          <a:prstGeom prst="rect">
            <a:avLst/>
          </a:prstGeom>
          <a:solidFill>
            <a:srgbClr val="215550"/>
          </a:solidFill>
          <a:ln>
            <a:noFill/>
          </a:ln>
        </p:spPr>
        <p:txBody>
          <a:bodyPr wrap="square" lIns="0" tIns="0" rIns="0" bIns="0" rtlCol="0" anchor="t"/>
          <a:lstStyle/>
          <a:p>
            <a:endParaRPr lang="en-US" dirty="0"/>
          </a:p>
        </p:txBody>
      </p:sp>
      <p:sp>
        <p:nvSpPr>
          <p:cNvPr id="21" name="AC 111"/>
          <p:cNvSpPr/>
          <p:nvPr/>
        </p:nvSpPr>
        <p:spPr>
          <a:xfrm>
            <a:off x="7090258" y="3706978"/>
            <a:ext cx="201168" cy="201168"/>
          </a:xfrm>
          <a:prstGeom prst="ellipse">
            <a:avLst/>
          </a:prstGeom>
          <a:solidFill>
            <a:srgbClr val="F7931A"/>
          </a:solidFill>
          <a:ln>
            <a:noFill/>
          </a:ln>
        </p:spPr>
        <p:txBody>
          <a:bodyPr wrap="square" lIns="0" tIns="0" rIns="0" bIns="0" rtlCol="0" anchor="t"/>
          <a:lstStyle/>
          <a:p>
            <a:endParaRPr lang="en-US" dirty="0"/>
          </a:p>
        </p:txBody>
      </p:sp>
      <p:sp>
        <p:nvSpPr>
          <p:cNvPr id="22" name="AC 112"/>
          <p:cNvSpPr/>
          <p:nvPr/>
        </p:nvSpPr>
        <p:spPr>
          <a:xfrm>
            <a:off x="7364578" y="3597250"/>
            <a:ext cx="1828800" cy="411480"/>
          </a:xfrm>
          <a:prstGeom prst="rect">
            <a:avLst/>
          </a:prstGeom>
          <a:noFill/>
          <a:ln>
            <a:noFill/>
          </a:ln>
        </p:spPr>
        <p:txBody>
          <a:bodyPr wrap="square" lIns="0" tIns="0" rIns="0" bIns="0" rtlCol="0" anchor="ctr"/>
          <a:lstStyle/>
          <a:p>
            <a:pPr algn="l" marL="0" indent="0">
              <a:spcAft>
                <a:spcPts val="0"/>
              </a:spcAft>
              <a:buNone/>
            </a:pPr>
            <a:r>
              <a:rPr lang="en-US" sz="1100" dirty="0">
                <a:solidFill>
                  <a:srgbClr val="FFFFFF"/>
                </a:solidFill>
                <a:latin typeface="Poppins SemiBold"/>
                <a:ea typeface="Poppins SemiBold"/>
                <a:cs typeface="Poppins SemiBold"/>
              </a:rPr>
              <a:t>AjoCircle</a:t>
            </a:r>
            <a:endParaRPr lang="en-US" sz="1100" dirty="0"/>
          </a:p>
        </p:txBody>
      </p:sp>
      <p:sp>
        <p:nvSpPr>
          <p:cNvPr id="23" name="AC 113"/>
          <p:cNvSpPr/>
          <p:nvPr/>
        </p:nvSpPr>
        <p:spPr>
          <a:xfrm>
            <a:off x="10969142" y="3688690"/>
            <a:ext cx="1371600" cy="237744"/>
          </a:xfrm>
          <a:prstGeom prst="roundRect">
            <a:avLst>
              <a:gd name="adj" fmla="val 50000"/>
            </a:avLst>
          </a:prstGeom>
          <a:solidFill>
            <a:srgbClr val="F7931A"/>
          </a:solidFill>
          <a:ln>
            <a:noFill/>
          </a:ln>
        </p:spPr>
        <p:txBody>
          <a:bodyPr wrap="square" lIns="0" tIns="0" rIns="0" bIns="0" rtlCol="0" anchor="ctr"/>
          <a:lstStyle/>
          <a:p>
            <a:pPr algn="ctr" marL="0" indent="0">
              <a:spcAft>
                <a:spcPts val="0"/>
              </a:spcAft>
              <a:buNone/>
            </a:pPr>
            <a:r>
              <a:rPr lang="en-US" sz="800" dirty="0">
                <a:solidFill>
                  <a:srgbClr val="262626"/>
                </a:solidFill>
                <a:latin typeface="Poppins SemiBold"/>
                <a:ea typeface="Poppins SemiBold"/>
                <a:cs typeface="Poppins SemiBold"/>
              </a:rPr>
              <a:t>Powered by MUSD</a:t>
            </a:r>
            <a:endParaRPr lang="en-US" sz="800" dirty="0"/>
          </a:p>
        </p:txBody>
      </p:sp>
      <p:sp>
        <p:nvSpPr>
          <p:cNvPr id="24" name="AC 114"/>
          <p:cNvSpPr/>
          <p:nvPr/>
        </p:nvSpPr>
        <p:spPr>
          <a:xfrm>
            <a:off x="7117690" y="4164178"/>
            <a:ext cx="3291840" cy="2651760"/>
          </a:xfrm>
          <a:prstGeom prst="roundRect">
            <a:avLst>
              <a:gd name="adj" fmla="val 4000"/>
            </a:avLst>
          </a:prstGeom>
          <a:solidFill>
            <a:srgbClr val="FFFFFF"/>
          </a:solidFill>
          <a:ln w="9525">
            <a:solidFill>
              <a:srgbClr val="E3E3E3"/>
            </a:solidFill>
            <a:round/>
          </a:ln>
        </p:spPr>
        <p:txBody>
          <a:bodyPr wrap="square" lIns="0" tIns="0" rIns="0" bIns="0" rtlCol="0" anchor="t"/>
          <a:lstStyle/>
          <a:p>
            <a:endParaRPr lang="en-US" dirty="0"/>
          </a:p>
        </p:txBody>
      </p:sp>
      <p:sp>
        <p:nvSpPr>
          <p:cNvPr id="25" name="AC 115"/>
          <p:cNvSpPr/>
          <p:nvPr/>
        </p:nvSpPr>
        <p:spPr>
          <a:xfrm>
            <a:off x="7254850" y="4237330"/>
            <a:ext cx="3017520" cy="320040"/>
          </a:xfrm>
          <a:prstGeom prst="rect">
            <a:avLst/>
          </a:prstGeom>
          <a:noFill/>
          <a:ln>
            <a:noFill/>
          </a:ln>
        </p:spPr>
        <p:txBody>
          <a:bodyPr wrap="square" lIns="0" tIns="0" rIns="0" bIns="0" rtlCol="0" anchor="t"/>
          <a:lstStyle/>
          <a:p>
            <a:pPr algn="l" marL="0" indent="0">
              <a:spcAft>
                <a:spcPts val="0"/>
              </a:spcAft>
              <a:buNone/>
            </a:pPr>
            <a:r>
              <a:rPr lang="en-US" sz="1100" dirty="0">
                <a:solidFill>
                  <a:srgbClr val="262626"/>
                </a:solidFill>
                <a:latin typeface="Poppins SemiBold"/>
                <a:ea typeface="Poppins SemiBold"/>
                <a:cs typeface="Poppins SemiBold"/>
              </a:rPr>
              <a:t>Demo circle</a:t>
            </a:r>
            <a:endParaRPr lang="en-US" sz="1100" dirty="0"/>
          </a:p>
        </p:txBody>
      </p:sp>
      <p:sp>
        <p:nvSpPr>
          <p:cNvPr id="26" name="AC 116"/>
          <p:cNvSpPr/>
          <p:nvPr/>
        </p:nvSpPr>
        <p:spPr>
          <a:xfrm>
            <a:off x="7254850" y="4511650"/>
            <a:ext cx="3017520" cy="256032"/>
          </a:xfrm>
          <a:prstGeom prst="rect">
            <a:avLst/>
          </a:prstGeom>
          <a:noFill/>
          <a:ln>
            <a:noFill/>
          </a:ln>
        </p:spPr>
        <p:txBody>
          <a:bodyPr wrap="square" lIns="0" tIns="0" rIns="0" bIns="0" rtlCol="0" anchor="t"/>
          <a:lstStyle/>
          <a:p>
            <a:pPr algn="l" marL="0" indent="0">
              <a:spcAft>
                <a:spcPts val="0"/>
              </a:spcAft>
              <a:buNone/>
            </a:pPr>
            <a:r>
              <a:rPr lang="en-US" sz="800" dirty="0">
                <a:solidFill>
                  <a:srgbClr val="8C8C8C"/>
                </a:solidFill>
                <a:latin typeface="Lato"/>
                <a:ea typeface="Lato"/>
                <a:cs typeface="Lato"/>
              </a:rPr>
              <a:t>Round 2 of 3 · payout order locked</a:t>
            </a:r>
            <a:endParaRPr lang="en-US" sz="800" dirty="0"/>
          </a:p>
        </p:txBody>
      </p:sp>
      <p:sp>
        <p:nvSpPr>
          <p:cNvPr id="27" name="AC 117"/>
          <p:cNvSpPr/>
          <p:nvPr/>
        </p:nvSpPr>
        <p:spPr>
          <a:xfrm>
            <a:off x="7254850" y="4822546"/>
            <a:ext cx="3017520" cy="91440"/>
          </a:xfrm>
          <a:prstGeom prst="roundRect">
            <a:avLst>
              <a:gd name="adj" fmla="val 50000"/>
            </a:avLst>
          </a:prstGeom>
          <a:solidFill>
            <a:srgbClr val="EAEAEA"/>
          </a:solidFill>
          <a:ln>
            <a:noFill/>
          </a:ln>
        </p:spPr>
        <p:txBody>
          <a:bodyPr wrap="square" lIns="0" tIns="0" rIns="0" bIns="0" rtlCol="0" anchor="t"/>
          <a:lstStyle/>
          <a:p>
            <a:endParaRPr lang="en-US" dirty="0"/>
          </a:p>
        </p:txBody>
      </p:sp>
      <p:sp>
        <p:nvSpPr>
          <p:cNvPr id="28" name="AC 118"/>
          <p:cNvSpPr/>
          <p:nvPr/>
        </p:nvSpPr>
        <p:spPr>
          <a:xfrm>
            <a:off x="7254850" y="4822546"/>
            <a:ext cx="2011680" cy="91440"/>
          </a:xfrm>
          <a:prstGeom prst="roundRect">
            <a:avLst>
              <a:gd name="adj" fmla="val 50000"/>
            </a:avLst>
          </a:prstGeom>
          <a:solidFill>
            <a:srgbClr val="F7931A"/>
          </a:solidFill>
          <a:ln>
            <a:noFill/>
          </a:ln>
        </p:spPr>
        <p:txBody>
          <a:bodyPr wrap="square" lIns="0" tIns="0" rIns="0" bIns="0" rtlCol="0" anchor="t"/>
          <a:lstStyle/>
          <a:p>
            <a:endParaRPr lang="en-US" dirty="0"/>
          </a:p>
        </p:txBody>
      </p:sp>
      <p:sp>
        <p:nvSpPr>
          <p:cNvPr id="29" name="AC 119"/>
          <p:cNvSpPr/>
          <p:nvPr/>
        </p:nvSpPr>
        <p:spPr>
          <a:xfrm>
            <a:off x="7263994" y="5124298"/>
            <a:ext cx="347472" cy="347472"/>
          </a:xfrm>
          <a:prstGeom prst="ellipse">
            <a:avLst/>
          </a:prstGeom>
          <a:solidFill>
            <a:srgbClr val="E9F1EF"/>
          </a:solidFill>
          <a:ln>
            <a:noFill/>
          </a:ln>
        </p:spPr>
        <p:txBody>
          <a:bodyPr wrap="square" lIns="0" tIns="0" rIns="0" bIns="0" rtlCol="0" anchor="t"/>
          <a:lstStyle/>
          <a:p>
            <a:endParaRPr lang="en-US" dirty="0"/>
          </a:p>
        </p:txBody>
      </p:sp>
      <p:sp>
        <p:nvSpPr>
          <p:cNvPr id="30" name="AC 120"/>
          <p:cNvSpPr/>
          <p:nvPr/>
        </p:nvSpPr>
        <p:spPr>
          <a:xfrm>
            <a:off x="7385609" y="5193792"/>
            <a:ext cx="104242" cy="104242"/>
          </a:xfrm>
          <a:prstGeom prst="ellipse">
            <a:avLst/>
          </a:prstGeom>
          <a:solidFill>
            <a:srgbClr val="215550"/>
          </a:solidFill>
          <a:ln>
            <a:noFill/>
          </a:ln>
        </p:spPr>
        <p:txBody>
          <a:bodyPr wrap="square" lIns="0" tIns="0" rIns="0" bIns="0" rtlCol="0" anchor="t"/>
          <a:lstStyle/>
          <a:p>
            <a:endParaRPr lang="en-US" dirty="0"/>
          </a:p>
        </p:txBody>
      </p:sp>
      <p:sp>
        <p:nvSpPr>
          <p:cNvPr id="31" name="AC 121"/>
          <p:cNvSpPr/>
          <p:nvPr/>
        </p:nvSpPr>
        <p:spPr>
          <a:xfrm>
            <a:off x="7347387" y="5311932"/>
            <a:ext cx="180685" cy="90343"/>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32" name="AC 122"/>
          <p:cNvSpPr/>
          <p:nvPr/>
        </p:nvSpPr>
        <p:spPr>
          <a:xfrm>
            <a:off x="7684618" y="5133442"/>
            <a:ext cx="1280160" cy="329184"/>
          </a:xfrm>
          <a:prstGeom prst="rect">
            <a:avLst/>
          </a:prstGeom>
          <a:noFill/>
          <a:ln>
            <a:noFill/>
          </a:ln>
        </p:spPr>
        <p:txBody>
          <a:bodyPr wrap="square" lIns="0" tIns="0" rIns="0" bIns="0" rtlCol="0" anchor="ctr"/>
          <a:lstStyle/>
          <a:p>
            <a:pPr algn="l" marL="0" indent="0">
              <a:spcAft>
                <a:spcPts val="0"/>
              </a:spcAft>
              <a:buNone/>
            </a:pPr>
            <a:r>
              <a:rPr lang="en-US" sz="900" dirty="0">
                <a:solidFill>
                  <a:srgbClr val="262626"/>
                </a:solidFill>
                <a:latin typeface="Lato"/>
                <a:ea typeface="Lato"/>
                <a:cs typeface="Lato"/>
              </a:rPr>
              <a:t>Member 1</a:t>
            </a:r>
            <a:endParaRPr lang="en-US" sz="900" dirty="0"/>
          </a:p>
        </p:txBody>
      </p:sp>
      <p:sp>
        <p:nvSpPr>
          <p:cNvPr id="33" name="AC 123"/>
          <p:cNvSpPr/>
          <p:nvPr/>
        </p:nvSpPr>
        <p:spPr>
          <a:xfrm>
            <a:off x="9723730" y="5179162"/>
            <a:ext cx="548640" cy="237744"/>
          </a:xfrm>
          <a:prstGeom prst="roundRect">
            <a:avLst>
              <a:gd name="adj" fmla="val 50000"/>
            </a:avLst>
          </a:prstGeom>
          <a:solidFill>
            <a:srgbClr val="DFF1E3"/>
          </a:solidFill>
          <a:ln>
            <a:noFill/>
          </a:ln>
        </p:spPr>
        <p:txBody>
          <a:bodyPr wrap="square" lIns="0" tIns="0" rIns="0" bIns="0" rtlCol="0" anchor="ctr"/>
          <a:lstStyle/>
          <a:p>
            <a:pPr algn="ctr" marL="0" indent="0">
              <a:spcAft>
                <a:spcPts val="0"/>
              </a:spcAft>
              <a:buNone/>
            </a:pPr>
            <a:r>
              <a:rPr lang="en-US" sz="700" dirty="0">
                <a:solidFill>
                  <a:srgbClr val="2E7D4F"/>
                </a:solidFill>
                <a:latin typeface="Poppins SemiBold"/>
                <a:ea typeface="Poppins SemiBold"/>
                <a:cs typeface="Poppins SemiBold"/>
              </a:rPr>
              <a:t>Paid</a:t>
            </a:r>
            <a:endParaRPr lang="en-US" sz="700" dirty="0"/>
          </a:p>
        </p:txBody>
      </p:sp>
      <p:sp>
        <p:nvSpPr>
          <p:cNvPr id="34" name="AC 124"/>
          <p:cNvSpPr/>
          <p:nvPr/>
        </p:nvSpPr>
        <p:spPr>
          <a:xfrm>
            <a:off x="7254850" y="5572354"/>
            <a:ext cx="3017520" cy="0"/>
          </a:xfrm>
          <a:prstGeom prst="line">
            <a:avLst/>
          </a:prstGeom>
          <a:noFill/>
          <a:ln w="9525">
            <a:solidFill>
              <a:srgbClr val="EEEEEE"/>
            </a:solidFill>
            <a:round/>
          </a:ln>
        </p:spPr>
        <p:txBody>
          <a:bodyPr wrap="square" lIns="0" tIns="0" rIns="0" bIns="0" rtlCol="0" anchor="t"/>
          <a:lstStyle/>
          <a:p>
            <a:endParaRPr lang="en-US" dirty="0"/>
          </a:p>
        </p:txBody>
      </p:sp>
      <p:sp>
        <p:nvSpPr>
          <p:cNvPr id="35" name="AC 125"/>
          <p:cNvSpPr/>
          <p:nvPr/>
        </p:nvSpPr>
        <p:spPr>
          <a:xfrm>
            <a:off x="7263994" y="5672938"/>
            <a:ext cx="347472" cy="347472"/>
          </a:xfrm>
          <a:prstGeom prst="ellipse">
            <a:avLst/>
          </a:prstGeom>
          <a:solidFill>
            <a:srgbClr val="E9F1EF"/>
          </a:solidFill>
          <a:ln>
            <a:noFill/>
          </a:ln>
        </p:spPr>
        <p:txBody>
          <a:bodyPr wrap="square" lIns="0" tIns="0" rIns="0" bIns="0" rtlCol="0" anchor="t"/>
          <a:lstStyle/>
          <a:p>
            <a:endParaRPr lang="en-US" dirty="0"/>
          </a:p>
        </p:txBody>
      </p:sp>
      <p:sp>
        <p:nvSpPr>
          <p:cNvPr id="36" name="AC 126"/>
          <p:cNvSpPr/>
          <p:nvPr/>
        </p:nvSpPr>
        <p:spPr>
          <a:xfrm>
            <a:off x="7385609" y="5742432"/>
            <a:ext cx="104242" cy="104242"/>
          </a:xfrm>
          <a:prstGeom prst="ellipse">
            <a:avLst/>
          </a:prstGeom>
          <a:solidFill>
            <a:srgbClr val="215550"/>
          </a:solidFill>
          <a:ln>
            <a:noFill/>
          </a:ln>
        </p:spPr>
        <p:txBody>
          <a:bodyPr wrap="square" lIns="0" tIns="0" rIns="0" bIns="0" rtlCol="0" anchor="t"/>
          <a:lstStyle/>
          <a:p>
            <a:endParaRPr lang="en-US" dirty="0"/>
          </a:p>
        </p:txBody>
      </p:sp>
      <p:sp>
        <p:nvSpPr>
          <p:cNvPr id="37" name="AC 127"/>
          <p:cNvSpPr/>
          <p:nvPr/>
        </p:nvSpPr>
        <p:spPr>
          <a:xfrm>
            <a:off x="7347387" y="5860572"/>
            <a:ext cx="180685" cy="90343"/>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38" name="AC 128"/>
          <p:cNvSpPr/>
          <p:nvPr/>
        </p:nvSpPr>
        <p:spPr>
          <a:xfrm>
            <a:off x="7684618" y="5682082"/>
            <a:ext cx="1280160" cy="329184"/>
          </a:xfrm>
          <a:prstGeom prst="rect">
            <a:avLst/>
          </a:prstGeom>
          <a:noFill/>
          <a:ln>
            <a:noFill/>
          </a:ln>
        </p:spPr>
        <p:txBody>
          <a:bodyPr wrap="square" lIns="0" tIns="0" rIns="0" bIns="0" rtlCol="0" anchor="ctr"/>
          <a:lstStyle/>
          <a:p>
            <a:pPr algn="l" marL="0" indent="0">
              <a:spcAft>
                <a:spcPts val="0"/>
              </a:spcAft>
              <a:buNone/>
            </a:pPr>
            <a:r>
              <a:rPr lang="en-US" sz="900" dirty="0">
                <a:solidFill>
                  <a:srgbClr val="262626"/>
                </a:solidFill>
                <a:latin typeface="Lato"/>
                <a:ea typeface="Lato"/>
                <a:cs typeface="Lato"/>
              </a:rPr>
              <a:t>Member 2</a:t>
            </a:r>
            <a:endParaRPr lang="en-US" sz="900" dirty="0"/>
          </a:p>
        </p:txBody>
      </p:sp>
      <p:sp>
        <p:nvSpPr>
          <p:cNvPr id="39" name="AC 129"/>
          <p:cNvSpPr/>
          <p:nvPr/>
        </p:nvSpPr>
        <p:spPr>
          <a:xfrm>
            <a:off x="9723730" y="5727802"/>
            <a:ext cx="548640" cy="237744"/>
          </a:xfrm>
          <a:prstGeom prst="roundRect">
            <a:avLst>
              <a:gd name="adj" fmla="val 50000"/>
            </a:avLst>
          </a:prstGeom>
          <a:solidFill>
            <a:srgbClr val="DFF1E3"/>
          </a:solidFill>
          <a:ln>
            <a:noFill/>
          </a:ln>
        </p:spPr>
        <p:txBody>
          <a:bodyPr wrap="square" lIns="0" tIns="0" rIns="0" bIns="0" rtlCol="0" anchor="ctr"/>
          <a:lstStyle/>
          <a:p>
            <a:pPr algn="ctr" marL="0" indent="0">
              <a:spcAft>
                <a:spcPts val="0"/>
              </a:spcAft>
              <a:buNone/>
            </a:pPr>
            <a:r>
              <a:rPr lang="en-US" sz="700" dirty="0">
                <a:solidFill>
                  <a:srgbClr val="2E7D4F"/>
                </a:solidFill>
                <a:latin typeface="Poppins SemiBold"/>
                <a:ea typeface="Poppins SemiBold"/>
                <a:cs typeface="Poppins SemiBold"/>
              </a:rPr>
              <a:t>Paid</a:t>
            </a:r>
            <a:endParaRPr lang="en-US" sz="700" dirty="0"/>
          </a:p>
        </p:txBody>
      </p:sp>
      <p:sp>
        <p:nvSpPr>
          <p:cNvPr id="40" name="AC 130"/>
          <p:cNvSpPr/>
          <p:nvPr/>
        </p:nvSpPr>
        <p:spPr>
          <a:xfrm>
            <a:off x="7254850" y="6120994"/>
            <a:ext cx="3017520" cy="0"/>
          </a:xfrm>
          <a:prstGeom prst="line">
            <a:avLst/>
          </a:prstGeom>
          <a:noFill/>
          <a:ln w="9525">
            <a:solidFill>
              <a:srgbClr val="EEEEEE"/>
            </a:solidFill>
            <a:round/>
          </a:ln>
        </p:spPr>
        <p:txBody>
          <a:bodyPr wrap="square" lIns="0" tIns="0" rIns="0" bIns="0" rtlCol="0" anchor="t"/>
          <a:lstStyle/>
          <a:p>
            <a:endParaRPr lang="en-US" dirty="0"/>
          </a:p>
        </p:txBody>
      </p:sp>
      <p:sp>
        <p:nvSpPr>
          <p:cNvPr id="41" name="AC 131"/>
          <p:cNvSpPr/>
          <p:nvPr/>
        </p:nvSpPr>
        <p:spPr>
          <a:xfrm>
            <a:off x="7263994" y="6221578"/>
            <a:ext cx="347472" cy="347472"/>
          </a:xfrm>
          <a:prstGeom prst="ellipse">
            <a:avLst/>
          </a:prstGeom>
          <a:solidFill>
            <a:srgbClr val="E9F1EF"/>
          </a:solidFill>
          <a:ln>
            <a:noFill/>
          </a:ln>
        </p:spPr>
        <p:txBody>
          <a:bodyPr wrap="square" lIns="0" tIns="0" rIns="0" bIns="0" rtlCol="0" anchor="t"/>
          <a:lstStyle/>
          <a:p>
            <a:endParaRPr lang="en-US" dirty="0"/>
          </a:p>
        </p:txBody>
      </p:sp>
      <p:sp>
        <p:nvSpPr>
          <p:cNvPr id="42" name="AC 132"/>
          <p:cNvSpPr/>
          <p:nvPr/>
        </p:nvSpPr>
        <p:spPr>
          <a:xfrm>
            <a:off x="7385609" y="6291072"/>
            <a:ext cx="104242" cy="104242"/>
          </a:xfrm>
          <a:prstGeom prst="ellipse">
            <a:avLst/>
          </a:prstGeom>
          <a:solidFill>
            <a:srgbClr val="215550"/>
          </a:solidFill>
          <a:ln>
            <a:noFill/>
          </a:ln>
        </p:spPr>
        <p:txBody>
          <a:bodyPr wrap="square" lIns="0" tIns="0" rIns="0" bIns="0" rtlCol="0" anchor="t"/>
          <a:lstStyle/>
          <a:p>
            <a:endParaRPr lang="en-US" dirty="0"/>
          </a:p>
        </p:txBody>
      </p:sp>
      <p:sp>
        <p:nvSpPr>
          <p:cNvPr id="43" name="AC 133"/>
          <p:cNvSpPr/>
          <p:nvPr/>
        </p:nvSpPr>
        <p:spPr>
          <a:xfrm>
            <a:off x="7347387" y="6409212"/>
            <a:ext cx="180685" cy="90343"/>
          </a:xfrm>
          <a:prstGeom prst="round2SameRect">
            <a:avLst>
              <a:gd name="adj1" fmla="val 50000"/>
              <a:gd name="adj2" fmla="val 0"/>
            </a:avLst>
          </a:prstGeom>
          <a:solidFill>
            <a:srgbClr val="215550"/>
          </a:solidFill>
          <a:ln>
            <a:noFill/>
          </a:ln>
        </p:spPr>
        <p:txBody>
          <a:bodyPr wrap="square" lIns="0" tIns="0" rIns="0" bIns="0" rtlCol="0" anchor="t"/>
          <a:lstStyle/>
          <a:p>
            <a:endParaRPr lang="en-US" dirty="0"/>
          </a:p>
        </p:txBody>
      </p:sp>
      <p:sp>
        <p:nvSpPr>
          <p:cNvPr id="44" name="AC 134"/>
          <p:cNvSpPr/>
          <p:nvPr/>
        </p:nvSpPr>
        <p:spPr>
          <a:xfrm>
            <a:off x="7684618" y="6230722"/>
            <a:ext cx="1280160" cy="329184"/>
          </a:xfrm>
          <a:prstGeom prst="rect">
            <a:avLst/>
          </a:prstGeom>
          <a:noFill/>
          <a:ln>
            <a:noFill/>
          </a:ln>
        </p:spPr>
        <p:txBody>
          <a:bodyPr wrap="square" lIns="0" tIns="0" rIns="0" bIns="0" rtlCol="0" anchor="ctr"/>
          <a:lstStyle/>
          <a:p>
            <a:pPr algn="l" marL="0" indent="0">
              <a:spcAft>
                <a:spcPts val="0"/>
              </a:spcAft>
              <a:buNone/>
            </a:pPr>
            <a:r>
              <a:rPr lang="en-US" sz="900" dirty="0">
                <a:solidFill>
                  <a:srgbClr val="262626"/>
                </a:solidFill>
                <a:latin typeface="Lato"/>
                <a:ea typeface="Lato"/>
                <a:cs typeface="Lato"/>
              </a:rPr>
              <a:t>Member 3</a:t>
            </a:r>
            <a:endParaRPr lang="en-US" sz="900" dirty="0"/>
          </a:p>
        </p:txBody>
      </p:sp>
      <p:sp>
        <p:nvSpPr>
          <p:cNvPr id="45" name="AC 135"/>
          <p:cNvSpPr/>
          <p:nvPr/>
        </p:nvSpPr>
        <p:spPr>
          <a:xfrm>
            <a:off x="9129370" y="6276442"/>
            <a:ext cx="1143000" cy="237744"/>
          </a:xfrm>
          <a:prstGeom prst="roundRect">
            <a:avLst>
              <a:gd name="adj" fmla="val 50000"/>
            </a:avLst>
          </a:prstGeom>
          <a:solidFill>
            <a:srgbClr val="FBE3E3"/>
          </a:solidFill>
          <a:ln>
            <a:noFill/>
          </a:ln>
        </p:spPr>
        <p:txBody>
          <a:bodyPr wrap="square" lIns="0" tIns="0" rIns="0" bIns="0" rtlCol="0" anchor="ctr"/>
          <a:lstStyle/>
          <a:p>
            <a:pPr algn="ctr" marL="0" indent="0">
              <a:spcAft>
                <a:spcPts val="0"/>
              </a:spcAft>
              <a:buNone/>
            </a:pPr>
            <a:r>
              <a:rPr lang="en-US" sz="700" dirty="0">
                <a:solidFill>
                  <a:srgbClr val="C0392B"/>
                </a:solidFill>
                <a:latin typeface="Poppins SemiBold"/>
                <a:ea typeface="Poppins SemiBold"/>
                <a:cs typeface="Poppins SemiBold"/>
              </a:rPr>
              <a:t>Missed · flagged</a:t>
            </a:r>
            <a:endParaRPr lang="en-US" sz="700" dirty="0"/>
          </a:p>
        </p:txBody>
      </p:sp>
      <p:sp>
        <p:nvSpPr>
          <p:cNvPr id="46" name="AC 136"/>
          <p:cNvSpPr/>
          <p:nvPr/>
        </p:nvSpPr>
        <p:spPr>
          <a:xfrm>
            <a:off x="10546690" y="4164178"/>
            <a:ext cx="1764792" cy="2651760"/>
          </a:xfrm>
          <a:prstGeom prst="roundRect">
            <a:avLst>
              <a:gd name="adj" fmla="val 5000"/>
            </a:avLst>
          </a:prstGeom>
          <a:solidFill>
            <a:srgbClr val="FFFFFF"/>
          </a:solidFill>
          <a:ln w="9525">
            <a:solidFill>
              <a:srgbClr val="E3E3E3"/>
            </a:solidFill>
            <a:round/>
          </a:ln>
        </p:spPr>
        <p:txBody>
          <a:bodyPr wrap="square" lIns="0" tIns="0" rIns="0" bIns="0" rtlCol="0" anchor="t"/>
          <a:lstStyle/>
          <a:p>
            <a:endParaRPr lang="en-US" dirty="0"/>
          </a:p>
        </p:txBody>
      </p:sp>
      <p:sp>
        <p:nvSpPr>
          <p:cNvPr id="47" name="AC 137"/>
          <p:cNvSpPr/>
          <p:nvPr/>
        </p:nvSpPr>
        <p:spPr>
          <a:xfrm>
            <a:off x="10656418" y="4237330"/>
            <a:ext cx="1554480" cy="320040"/>
          </a:xfrm>
          <a:prstGeom prst="rect">
            <a:avLst/>
          </a:prstGeom>
          <a:noFill/>
          <a:ln>
            <a:noFill/>
          </a:ln>
        </p:spPr>
        <p:txBody>
          <a:bodyPr wrap="square" lIns="0" tIns="0" rIns="0" bIns="0" rtlCol="0" anchor="t"/>
          <a:lstStyle/>
          <a:p>
            <a:pPr algn="l" marL="0" indent="0">
              <a:spcAft>
                <a:spcPts val="0"/>
              </a:spcAft>
              <a:buNone/>
            </a:pPr>
            <a:r>
              <a:rPr lang="en-US" sz="1000" dirty="0">
                <a:solidFill>
                  <a:srgbClr val="262626"/>
                </a:solidFill>
                <a:latin typeface="Poppins SemiBold"/>
                <a:ea typeface="Poppins SemiBold"/>
                <a:cs typeface="Poppins SemiBold"/>
              </a:rPr>
              <a:t>History</a:t>
            </a:r>
            <a:endParaRPr lang="en-US" sz="1000" dirty="0"/>
          </a:p>
        </p:txBody>
      </p:sp>
      <p:sp>
        <p:nvSpPr>
          <p:cNvPr id="48" name="AC 138"/>
          <p:cNvSpPr/>
          <p:nvPr/>
        </p:nvSpPr>
        <p:spPr>
          <a:xfrm>
            <a:off x="10674706" y="4721962"/>
            <a:ext cx="109728" cy="109728"/>
          </a:xfrm>
          <a:prstGeom prst="ellipse">
            <a:avLst/>
          </a:prstGeom>
          <a:solidFill>
            <a:srgbClr val="F7931A"/>
          </a:solidFill>
          <a:ln>
            <a:noFill/>
          </a:ln>
        </p:spPr>
        <p:txBody>
          <a:bodyPr wrap="square" lIns="0" tIns="0" rIns="0" bIns="0" rtlCol="0" anchor="t"/>
          <a:lstStyle/>
          <a:p>
            <a:endParaRPr lang="en-US" dirty="0"/>
          </a:p>
        </p:txBody>
      </p:sp>
      <p:sp>
        <p:nvSpPr>
          <p:cNvPr id="49" name="AC 139"/>
          <p:cNvSpPr/>
          <p:nvPr/>
        </p:nvSpPr>
        <p:spPr>
          <a:xfrm>
            <a:off x="10857586" y="4621378"/>
            <a:ext cx="1371600" cy="310896"/>
          </a:xfrm>
          <a:prstGeom prst="rect">
            <a:avLst/>
          </a:prstGeom>
          <a:noFill/>
          <a:ln>
            <a:noFill/>
          </a:ln>
        </p:spPr>
        <p:txBody>
          <a:bodyPr wrap="square" lIns="0" tIns="0" rIns="0" bIns="0" rtlCol="0" anchor="ctr"/>
          <a:lstStyle/>
          <a:p>
            <a:pPr algn="l" marL="0" indent="0">
              <a:spcAft>
                <a:spcPts val="0"/>
              </a:spcAft>
              <a:buNone/>
            </a:pPr>
            <a:r>
              <a:rPr lang="en-US" sz="800" dirty="0">
                <a:solidFill>
                  <a:srgbClr val="4D4D4D"/>
                </a:solidFill>
                <a:latin typeface="Lato"/>
                <a:ea typeface="Lato"/>
                <a:cs typeface="Lato"/>
              </a:rPr>
              <a:t>Pot sent</a:t>
            </a:r>
            <a:endParaRPr lang="en-US" sz="800" dirty="0"/>
          </a:p>
        </p:txBody>
      </p:sp>
      <p:sp>
        <p:nvSpPr>
          <p:cNvPr id="50" name="AC 140"/>
          <p:cNvSpPr/>
          <p:nvPr/>
        </p:nvSpPr>
        <p:spPr>
          <a:xfrm>
            <a:off x="10674706" y="5133442"/>
            <a:ext cx="109728" cy="109728"/>
          </a:xfrm>
          <a:prstGeom prst="ellipse">
            <a:avLst/>
          </a:prstGeom>
          <a:solidFill>
            <a:srgbClr val="215550"/>
          </a:solidFill>
          <a:ln>
            <a:noFill/>
          </a:ln>
        </p:spPr>
        <p:txBody>
          <a:bodyPr wrap="square" lIns="0" tIns="0" rIns="0" bIns="0" rtlCol="0" anchor="t"/>
          <a:lstStyle/>
          <a:p>
            <a:endParaRPr lang="en-US" dirty="0"/>
          </a:p>
        </p:txBody>
      </p:sp>
      <p:sp>
        <p:nvSpPr>
          <p:cNvPr id="51" name="AC 141"/>
          <p:cNvSpPr/>
          <p:nvPr/>
        </p:nvSpPr>
        <p:spPr>
          <a:xfrm>
            <a:off x="10857586" y="5032858"/>
            <a:ext cx="1371600" cy="310896"/>
          </a:xfrm>
          <a:prstGeom prst="rect">
            <a:avLst/>
          </a:prstGeom>
          <a:noFill/>
          <a:ln>
            <a:noFill/>
          </a:ln>
        </p:spPr>
        <p:txBody>
          <a:bodyPr wrap="square" lIns="0" tIns="0" rIns="0" bIns="0" rtlCol="0" anchor="ctr"/>
          <a:lstStyle/>
          <a:p>
            <a:pPr algn="l" marL="0" indent="0">
              <a:spcAft>
                <a:spcPts val="0"/>
              </a:spcAft>
              <a:buNone/>
            </a:pPr>
            <a:r>
              <a:rPr lang="en-US" sz="800" dirty="0">
                <a:solidFill>
                  <a:srgbClr val="4D4D4D"/>
                </a:solidFill>
                <a:latin typeface="Lato"/>
                <a:ea typeface="Lato"/>
                <a:cs typeface="Lato"/>
              </a:rPr>
              <a:t>Contribution</a:t>
            </a:r>
            <a:endParaRPr lang="en-US" sz="800" dirty="0"/>
          </a:p>
        </p:txBody>
      </p:sp>
      <p:sp>
        <p:nvSpPr>
          <p:cNvPr id="52" name="AC 142"/>
          <p:cNvSpPr/>
          <p:nvPr/>
        </p:nvSpPr>
        <p:spPr>
          <a:xfrm>
            <a:off x="10674706" y="5544922"/>
            <a:ext cx="109728" cy="109728"/>
          </a:xfrm>
          <a:prstGeom prst="ellipse">
            <a:avLst/>
          </a:prstGeom>
          <a:solidFill>
            <a:srgbClr val="215550"/>
          </a:solidFill>
          <a:ln>
            <a:noFill/>
          </a:ln>
        </p:spPr>
        <p:txBody>
          <a:bodyPr wrap="square" lIns="0" tIns="0" rIns="0" bIns="0" rtlCol="0" anchor="t"/>
          <a:lstStyle/>
          <a:p>
            <a:endParaRPr lang="en-US" dirty="0"/>
          </a:p>
        </p:txBody>
      </p:sp>
      <p:sp>
        <p:nvSpPr>
          <p:cNvPr id="53" name="AC 143"/>
          <p:cNvSpPr/>
          <p:nvPr/>
        </p:nvSpPr>
        <p:spPr>
          <a:xfrm>
            <a:off x="10857586" y="5444338"/>
            <a:ext cx="1371600" cy="310896"/>
          </a:xfrm>
          <a:prstGeom prst="rect">
            <a:avLst/>
          </a:prstGeom>
          <a:noFill/>
          <a:ln>
            <a:noFill/>
          </a:ln>
        </p:spPr>
        <p:txBody>
          <a:bodyPr wrap="square" lIns="0" tIns="0" rIns="0" bIns="0" rtlCol="0" anchor="ctr"/>
          <a:lstStyle/>
          <a:p>
            <a:pPr algn="l" marL="0" indent="0">
              <a:spcAft>
                <a:spcPts val="0"/>
              </a:spcAft>
              <a:buNone/>
            </a:pPr>
            <a:r>
              <a:rPr lang="en-US" sz="800" dirty="0">
                <a:solidFill>
                  <a:srgbClr val="4D4D4D"/>
                </a:solidFill>
                <a:latin typeface="Lato"/>
                <a:ea typeface="Lato"/>
                <a:cs typeface="Lato"/>
              </a:rPr>
              <a:t>Contribution</a:t>
            </a:r>
            <a:endParaRPr lang="en-US" sz="800" dirty="0"/>
          </a:p>
        </p:txBody>
      </p:sp>
      <p:sp>
        <p:nvSpPr>
          <p:cNvPr id="54" name="AC 144"/>
          <p:cNvSpPr/>
          <p:nvPr/>
        </p:nvSpPr>
        <p:spPr>
          <a:xfrm>
            <a:off x="10674706" y="5956402"/>
            <a:ext cx="109728" cy="109728"/>
          </a:xfrm>
          <a:prstGeom prst="ellipse">
            <a:avLst/>
          </a:prstGeom>
          <a:solidFill>
            <a:srgbClr val="C0392B"/>
          </a:solidFill>
          <a:ln>
            <a:noFill/>
          </a:ln>
        </p:spPr>
        <p:txBody>
          <a:bodyPr wrap="square" lIns="0" tIns="0" rIns="0" bIns="0" rtlCol="0" anchor="t"/>
          <a:lstStyle/>
          <a:p>
            <a:endParaRPr lang="en-US" dirty="0"/>
          </a:p>
        </p:txBody>
      </p:sp>
      <p:sp>
        <p:nvSpPr>
          <p:cNvPr id="55" name="AC 145"/>
          <p:cNvSpPr/>
          <p:nvPr/>
        </p:nvSpPr>
        <p:spPr>
          <a:xfrm>
            <a:off x="10857586" y="5855818"/>
            <a:ext cx="1371600" cy="310896"/>
          </a:xfrm>
          <a:prstGeom prst="rect">
            <a:avLst/>
          </a:prstGeom>
          <a:noFill/>
          <a:ln>
            <a:noFill/>
          </a:ln>
        </p:spPr>
        <p:txBody>
          <a:bodyPr wrap="square" lIns="0" tIns="0" rIns="0" bIns="0" rtlCol="0" anchor="ctr"/>
          <a:lstStyle/>
          <a:p>
            <a:pPr algn="l" marL="0" indent="0">
              <a:spcAft>
                <a:spcPts val="0"/>
              </a:spcAft>
              <a:buNone/>
            </a:pPr>
            <a:r>
              <a:rPr lang="en-US" sz="800" dirty="0">
                <a:solidFill>
                  <a:srgbClr val="4D4D4D"/>
                </a:solidFill>
                <a:latin typeface="Lato"/>
                <a:ea typeface="Lato"/>
                <a:cs typeface="Lato"/>
              </a:rPr>
              <a:t>Round settled</a:t>
            </a:r>
            <a:endParaRPr lang="en-US" sz="800" dirty="0"/>
          </a:p>
        </p:txBody>
      </p:sp>
      <p:sp>
        <p:nvSpPr>
          <p:cNvPr id="56" name="AC 146"/>
          <p:cNvSpPr/>
          <p:nvPr/>
        </p:nvSpPr>
        <p:spPr>
          <a:xfrm>
            <a:off x="10674706" y="6367882"/>
            <a:ext cx="109728" cy="109728"/>
          </a:xfrm>
          <a:prstGeom prst="ellipse">
            <a:avLst/>
          </a:prstGeom>
          <a:solidFill>
            <a:srgbClr val="215550"/>
          </a:solidFill>
          <a:ln>
            <a:noFill/>
          </a:ln>
        </p:spPr>
        <p:txBody>
          <a:bodyPr wrap="square" lIns="0" tIns="0" rIns="0" bIns="0" rtlCol="0" anchor="t"/>
          <a:lstStyle/>
          <a:p>
            <a:endParaRPr lang="en-US" dirty="0"/>
          </a:p>
        </p:txBody>
      </p:sp>
      <p:sp>
        <p:nvSpPr>
          <p:cNvPr id="57" name="AC 147"/>
          <p:cNvSpPr/>
          <p:nvPr/>
        </p:nvSpPr>
        <p:spPr>
          <a:xfrm>
            <a:off x="10857586" y="6267298"/>
            <a:ext cx="1371600" cy="310896"/>
          </a:xfrm>
          <a:prstGeom prst="rect">
            <a:avLst/>
          </a:prstGeom>
          <a:noFill/>
          <a:ln>
            <a:noFill/>
          </a:ln>
        </p:spPr>
        <p:txBody>
          <a:bodyPr wrap="square" lIns="0" tIns="0" rIns="0" bIns="0" rtlCol="0" anchor="ctr"/>
          <a:lstStyle/>
          <a:p>
            <a:pPr algn="l" marL="0" indent="0">
              <a:spcAft>
                <a:spcPts val="0"/>
              </a:spcAft>
              <a:buNone/>
            </a:pPr>
            <a:r>
              <a:rPr lang="en-US" sz="800" dirty="0">
                <a:solidFill>
                  <a:srgbClr val="4D4D4D"/>
                </a:solidFill>
                <a:latin typeface="Lato"/>
                <a:ea typeface="Lato"/>
                <a:cs typeface="Lato"/>
              </a:rPr>
              <a:t>Member joined</a:t>
            </a:r>
            <a:endParaRPr lang="en-US" sz="800" dirty="0"/>
          </a:p>
        </p:txBody>
      </p:sp>
      <p:sp>
        <p:nvSpPr>
          <p:cNvPr id="58" name="AC 148"/>
          <p:cNvSpPr/>
          <p:nvPr/>
        </p:nvSpPr>
        <p:spPr>
          <a:xfrm>
            <a:off x="2377440" y="8092440"/>
            <a:ext cx="14676120" cy="1280160"/>
          </a:xfrm>
          <a:prstGeom prst="rect">
            <a:avLst/>
          </a:prstGeom>
          <a:noFill/>
          <a:ln>
            <a:noFill/>
          </a:ln>
        </p:spPr>
        <p:txBody>
          <a:bodyPr wrap="square" lIns="0" tIns="0" rIns="0" bIns="0" rtlCol="0" anchor="t"/>
          <a:lstStyle/>
          <a:p>
            <a:pPr algn="ctr" marL="0" indent="0">
              <a:spcAft>
                <a:spcPts val="800"/>
              </a:spcAft>
              <a:buNone/>
            </a:pPr>
            <a:r>
              <a:rPr lang="en-US" sz="1600" dirty="0">
                <a:solidFill>
                  <a:srgbClr val="262626"/>
                </a:solidFill>
                <a:latin typeface="Lato"/>
                <a:ea typeface="Lato"/>
                <a:cs typeface="Lato"/>
              </a:rPr>
              <a:t>Deployed on Mezo testnet: contract </a:t>
            </a:r>
            <a:r>
              <a:rPr lang="en-US" sz="1400" dirty="0">
                <a:solidFill>
                  <a:srgbClr val="215550"/>
                </a:solidFill>
                <a:latin typeface="IBM Plex Mono"/>
                <a:ea typeface="IBM Plex Mono"/>
                <a:cs typeface="IBM Plex Mono"/>
              </a:rPr>
              <a:t>0x94A5014b54bF748660AC0D953De67416fe34ea2C</a:t>
            </a:r>
            <a:r>
              <a:rPr lang="en-US" sz="1600" dirty="0">
                <a:solidFill>
                  <a:srgbClr val="262626"/>
                </a:solidFill>
                <a:latin typeface="Lato"/>
                <a:ea typeface="Lato"/>
                <a:cs typeface="Lato"/>
              </a:rPr>
              <a:t>, with source verified on Sourcify.</a:t>
            </a:r>
            <a:endParaRPr lang="en-US" sz="1600" dirty="0"/>
          </a:p>
          <a:p>
            <a:pPr algn="ctr" marL="0" indent="0">
              <a:spcAft>
                <a:spcPts val="0"/>
              </a:spcAft>
              <a:buNone/>
            </a:pPr>
            <a:r>
              <a:rPr lang="en-US" sz="1600" dirty="0">
                <a:solidFill>
                  <a:srgbClr val="262626"/>
                </a:solidFill>
                <a:latin typeface="Poppins SemiBold"/>
                <a:ea typeface="Poppins SemiBold"/>
                <a:cs typeface="Poppins SemiBold"/>
              </a:rPr>
              <a:t>Links: </a:t>
            </a:r>
            <a:r>
              <a:rPr lang="en-US" sz="1600" dirty="0">
                <a:solidFill>
                  <a:srgbClr val="B85F00"/>
                </a:solidFill>
                <a:latin typeface="Poppins SemiBold"/>
                <a:ea typeface="Poppins SemiBold"/>
                <a:cs typeface="Poppins SemiBold"/>
              </a:rPr>
              <a:t>[live app URL]</a:t>
            </a:r>
            <a:r>
              <a:rPr lang="en-US" sz="1600" dirty="0">
                <a:solidFill>
                  <a:srgbClr val="262626"/>
                </a:solidFill>
                <a:latin typeface="Lato"/>
                <a:ea typeface="Lato"/>
                <a:cs typeface="Lato"/>
              </a:rPr>
              <a:t> · </a:t>
            </a:r>
            <a:r>
              <a:rPr lang="en-US" sz="1600" dirty="0">
                <a:solidFill>
                  <a:srgbClr val="262626"/>
                </a:solidFill>
                <a:latin typeface="Lato"/>
                <a:ea typeface="Lato"/>
                <a:cs typeface="Lato"/>
              </a:rPr>
              <a:t>github.com/ajocircle-dev/ajocircle</a:t>
            </a:r>
            <a:r>
              <a:rPr lang="en-US" sz="1600" dirty="0">
                <a:solidFill>
                  <a:srgbClr val="262626"/>
                </a:solidFill>
                <a:latin typeface="Lato"/>
                <a:ea typeface="Lato"/>
                <a:cs typeface="Lato"/>
              </a:rPr>
              <a:t> · explorer.test.mezo.org</a:t>
            </a:r>
            <a:endParaRPr lang="en-US" sz="1600" dirty="0"/>
          </a:p>
        </p:txBody>
      </p:sp>
      <p:sp>
        <p:nvSpPr>
          <p:cNvPr id="59"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60"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32"/>
          <p:cNvSpPr/>
          <p:nvPr/>
        </p:nvSpPr>
        <p:spPr>
          <a:xfrm>
            <a:off x="228600" y="228600"/>
            <a:ext cx="914400" cy="9829800"/>
          </a:xfrm>
          <a:prstGeom prst="roundRect">
            <a:avLst>
              <a:gd name="adj" fmla="val 50000"/>
            </a:avLst>
          </a:prstGeom>
          <a:solidFill>
            <a:srgbClr val="F7931A"/>
          </a:solidFill>
          <a:ln/>
        </p:spPr>
      </p:sp>
      <p:sp>
        <p:nvSpPr>
          <p:cNvPr id="3" name="Text 33"/>
          <p:cNvSpPr/>
          <p:nvPr/>
        </p:nvSpPr>
        <p:spPr>
          <a:xfrm rot="5400000">
            <a:off x="-662941" y="2230221"/>
            <a:ext cx="2697480" cy="523037"/>
          </a:xfrm>
          <a:prstGeom prst="rect">
            <a:avLst/>
          </a:prstGeom>
          <a:noFill/>
          <a:ln/>
        </p:spPr>
        <p:txBody>
          <a:bodyPr wrap="square" rtlCol="0" anchor="t"/>
          <a:lstStyle/>
          <a:p>
            <a:pPr indent="0" marL="0">
              <a:buNone/>
            </a:pPr>
            <a:r>
              <a:rPr lang="en-US" sz="2800" spc="100" kern="0" dirty="0">
                <a:solidFill>
                  <a:srgbClr val="FFFFFF"/>
                </a:solidFill>
                <a:latin typeface="Poppins SemiBold" pitchFamily="34" charset="0"/>
                <a:ea typeface="Poppins SemiBold" pitchFamily="34" charset="-122"/>
                <a:cs typeface="Poppins SemiBold" pitchFamily="34" charset="-120"/>
              </a:rPr>
              <a:t>AjoCircle.</a:t>
            </a:r>
            <a:endParaRPr lang="en-US" sz="2800" dirty="0"/>
          </a:p>
        </p:txBody>
      </p:sp>
      <p:sp>
        <p:nvSpPr>
          <p:cNvPr id="4" name="Shape 34"/>
          <p:cNvSpPr/>
          <p:nvPr/>
        </p:nvSpPr>
        <p:spPr>
          <a:xfrm>
            <a:off x="476402" y="476402"/>
            <a:ext cx="418795" cy="418795"/>
          </a:xfrm>
          <a:prstGeom prst="ellipse">
            <a:avLst/>
          </a:prstGeom>
          <a:solidFill>
            <a:srgbClr val="FFFFFF"/>
          </a:solidFill>
          <a:ln/>
        </p:spPr>
      </p:sp>
      <p:sp>
        <p:nvSpPr>
          <p:cNvPr id="5" name="Text 39"/>
          <p:cNvSpPr/>
          <p:nvPr/>
        </p:nvSpPr>
        <p:spPr>
          <a:xfrm>
            <a:off x="330098" y="9415577"/>
            <a:ext cx="714146" cy="369418"/>
          </a:xfrm>
          <a:prstGeom prst="rect">
            <a:avLst/>
          </a:prstGeom>
          <a:noFill/>
          <a:ln/>
        </p:spPr>
        <p:txBody>
          <a:bodyPr wrap="square" rtlCol="0" anchor="t"/>
          <a:lstStyle/>
          <a:p>
            <a:pPr algn="ctr" indent="0" marL="0">
              <a:buNone/>
            </a:pPr>
            <a:r>
              <a:rPr lang="en-US" sz="1800" dirty="0">
                <a:solidFill>
                  <a:srgbClr val="FFFFFF"/>
                </a:solidFill>
                <a:latin typeface="Poppins Medium" pitchFamily="34" charset="0"/>
                <a:ea typeface="Poppins Medium" pitchFamily="34" charset="-122"/>
                <a:cs typeface="Poppins Medium" pitchFamily="34" charset="-120"/>
              </a:rPr>
              <a:t>03.</a:t>
            </a:r>
            <a:endParaRPr lang="en-US" sz="1800" dirty="0"/>
          </a:p>
        </p:txBody>
      </p:sp>
      <p:sp>
        <p:nvSpPr>
          <p:cNvPr id="6" name="Shape 40"/>
          <p:cNvSpPr/>
          <p:nvPr/>
        </p:nvSpPr>
        <p:spPr>
          <a:xfrm>
            <a:off x="685800" y="4251960"/>
            <a:ext cx="0" cy="4632350"/>
          </a:xfrm>
          <a:prstGeom prst="line">
            <a:avLst/>
          </a:prstGeom>
          <a:noFill/>
          <a:ln w="38100">
            <a:solidFill>
              <a:srgbClr val="FFFFFF"/>
            </a:solidFill>
            <a:prstDash val="solid"/>
          </a:ln>
        </p:spPr>
      </p:sp>
      <p:sp>
        <p:nvSpPr>
          <p:cNvPr id="7" name="AC 101"/>
          <p:cNvSpPr/>
          <p:nvPr/>
        </p:nvSpPr>
        <p:spPr>
          <a:xfrm>
            <a:off x="2057400" y="914400"/>
            <a:ext cx="15316200" cy="384048"/>
          </a:xfrm>
          <a:prstGeom prst="rect">
            <a:avLst/>
          </a:prstGeom>
          <a:noFill/>
          <a:ln>
            <a:noFill/>
          </a:ln>
        </p:spPr>
        <p:txBody>
          <a:bodyPr wrap="square" lIns="0" tIns="0" rIns="0" bIns="0" rtlCol="0" anchor="t"/>
          <a:lstStyle/>
          <a:p>
            <a:pPr algn="ctr" marL="0" indent="0">
              <a:spcAft>
                <a:spcPts val="0"/>
              </a:spcAft>
              <a:buNone/>
            </a:pPr>
            <a:r>
              <a:rPr lang="en-US" sz="1800" spc="100" dirty="0">
                <a:solidFill>
                  <a:srgbClr val="F7931A"/>
                </a:solidFill>
                <a:latin typeface="Poppins Medium"/>
                <a:ea typeface="Poppins Medium"/>
                <a:cs typeface="Poppins Medium"/>
              </a:rPr>
              <a:t>How it works</a:t>
            </a:r>
            <a:endParaRPr lang="en-US" sz="1800" dirty="0"/>
          </a:p>
        </p:txBody>
      </p:sp>
      <p:sp>
        <p:nvSpPr>
          <p:cNvPr id="8" name="AC 102"/>
          <p:cNvSpPr/>
          <p:nvPr/>
        </p:nvSpPr>
        <p:spPr>
          <a:xfrm>
            <a:off x="2057400" y="1280160"/>
            <a:ext cx="15316200" cy="868680"/>
          </a:xfrm>
          <a:prstGeom prst="rect">
            <a:avLst/>
          </a:prstGeom>
          <a:noFill/>
          <a:ln>
            <a:noFill/>
          </a:ln>
        </p:spPr>
        <p:txBody>
          <a:bodyPr wrap="square" lIns="0" tIns="0" rIns="0" bIns="0" rtlCol="0" anchor="t"/>
          <a:lstStyle/>
          <a:p>
            <a:pPr algn="ctr" marL="0" indent="0">
              <a:spcAft>
                <a:spcPts val="0"/>
              </a:spcAft>
              <a:buNone/>
            </a:pPr>
            <a:r>
              <a:rPr lang="en-US" sz="4400" dirty="0">
                <a:solidFill>
                  <a:srgbClr val="262626"/>
                </a:solidFill>
                <a:latin typeface="Poppins SemiBold"/>
                <a:ea typeface="Poppins SemiBold"/>
                <a:cs typeface="Poppins SemiBold"/>
              </a:rPr>
              <a:t>Mezo / MUSD integration</a:t>
            </a:r>
            <a:endParaRPr lang="en-US" sz="4400" dirty="0"/>
          </a:p>
        </p:txBody>
      </p:sp>
      <p:sp>
        <p:nvSpPr>
          <p:cNvPr id="9" name="AC 103"/>
          <p:cNvSpPr/>
          <p:nvPr/>
        </p:nvSpPr>
        <p:spPr>
          <a:xfrm>
            <a:off x="2057400" y="2697480"/>
            <a:ext cx="2926080" cy="1737360"/>
          </a:xfrm>
          <a:prstGeom prst="roundRect">
            <a:avLst>
              <a:gd name="adj" fmla="val 10000"/>
            </a:avLst>
          </a:prstGeom>
          <a:solidFill>
            <a:srgbClr val="E9F1EF"/>
          </a:solidFill>
          <a:ln w="19050">
            <a:solidFill>
              <a:srgbClr val="215550"/>
            </a:solidFill>
            <a:round/>
          </a:ln>
        </p:spPr>
        <p:txBody>
          <a:bodyPr wrap="square" lIns="91440" tIns="45720" rIns="91440" bIns="45720" rtlCol="0" anchor="ctr"/>
          <a:lstStyle/>
          <a:p>
            <a:pPr algn="ctr" marL="0" indent="0">
              <a:spcAft>
                <a:spcPts val="0"/>
              </a:spcAft>
              <a:buNone/>
            </a:pPr>
            <a:r>
              <a:rPr lang="en-US" sz="2000" dirty="0">
                <a:solidFill>
                  <a:srgbClr val="215550"/>
                </a:solidFill>
                <a:latin typeface="Poppins SemiBold"/>
                <a:ea typeface="Poppins SemiBold"/>
                <a:cs typeface="Poppins SemiBold"/>
              </a:rPr>
              <a:t>Members</a:t>
            </a:r>
            <a:endParaRPr lang="en-US" sz="2000" dirty="0"/>
          </a:p>
          <a:p>
            <a:pPr algn="ctr" marL="0" indent="0">
              <a:spcAft>
                <a:spcPts val="0"/>
              </a:spcAft>
              <a:buNone/>
            </a:pPr>
            <a:r>
              <a:rPr lang="en-US" sz="1300" dirty="0">
                <a:solidFill>
                  <a:srgbClr val="4D4D4D"/>
                </a:solidFill>
                <a:latin typeface="Lato"/>
                <a:ea typeface="Lato"/>
                <a:cs typeface="Lato"/>
              </a:rPr>
              <a:t>pay each round in MUSD</a:t>
            </a:r>
            <a:endParaRPr lang="en-US" sz="1300" dirty="0"/>
          </a:p>
        </p:txBody>
      </p:sp>
      <p:sp>
        <p:nvSpPr>
          <p:cNvPr id="10" name="AC 104"/>
          <p:cNvSpPr/>
          <p:nvPr/>
        </p:nvSpPr>
        <p:spPr>
          <a:xfrm>
            <a:off x="6080760" y="2697480"/>
            <a:ext cx="2926080" cy="1737360"/>
          </a:xfrm>
          <a:prstGeom prst="roundRect">
            <a:avLst>
              <a:gd name="adj" fmla="val 10000"/>
            </a:avLst>
          </a:prstGeom>
          <a:solidFill>
            <a:srgbClr val="215550"/>
          </a:solidFill>
          <a:ln>
            <a:noFill/>
          </a:ln>
        </p:spPr>
        <p:txBody>
          <a:bodyPr wrap="square" lIns="91440" tIns="45720" rIns="91440" bIns="45720" rtlCol="0" anchor="ctr"/>
          <a:lstStyle/>
          <a:p>
            <a:pPr algn="ctr" marL="0" indent="0">
              <a:spcAft>
                <a:spcPts val="0"/>
              </a:spcAft>
              <a:buNone/>
            </a:pPr>
            <a:r>
              <a:rPr lang="en-US" sz="1900" dirty="0">
                <a:solidFill>
                  <a:srgbClr val="FFFFFF"/>
                </a:solidFill>
                <a:latin typeface="Poppins SemiBold"/>
                <a:ea typeface="Poppins SemiBold"/>
                <a:cs typeface="Poppins SemiBold"/>
              </a:rPr>
              <a:t>AjoCircle contract</a:t>
            </a:r>
            <a:endParaRPr lang="en-US" sz="1900" dirty="0"/>
          </a:p>
          <a:p>
            <a:pPr algn="ctr" marL="0" indent="0">
              <a:spcAft>
                <a:spcPts val="0"/>
              </a:spcAft>
              <a:buNone/>
            </a:pPr>
            <a:r>
              <a:rPr lang="en-US" sz="1300" dirty="0">
                <a:solidFill>
                  <a:srgbClr val="D6E6E3"/>
                </a:solidFill>
                <a:latin typeface="Lato"/>
                <a:ea typeface="Lato"/>
                <a:cs typeface="Lato"/>
              </a:rPr>
              <a:t>pot stays here</a:t>
            </a:r>
            <a:endParaRPr lang="en-US" sz="1300" dirty="0"/>
          </a:p>
        </p:txBody>
      </p:sp>
      <p:sp>
        <p:nvSpPr>
          <p:cNvPr id="11" name="AC 105"/>
          <p:cNvSpPr/>
          <p:nvPr/>
        </p:nvSpPr>
        <p:spPr>
          <a:xfrm>
            <a:off x="10104120" y="2697480"/>
            <a:ext cx="2926080" cy="1737360"/>
          </a:xfrm>
          <a:prstGeom prst="roundRect">
            <a:avLst>
              <a:gd name="adj" fmla="val 10000"/>
            </a:avLst>
          </a:prstGeom>
          <a:solidFill>
            <a:srgbClr val="F7931A"/>
          </a:solidFill>
          <a:ln>
            <a:noFill/>
          </a:ln>
        </p:spPr>
        <p:txBody>
          <a:bodyPr wrap="square" lIns="91440" tIns="45720" rIns="91440" bIns="45720" rtlCol="0" anchor="ctr"/>
          <a:lstStyle/>
          <a:p>
            <a:pPr algn="ctr" marL="0" indent="0">
              <a:spcAft>
                <a:spcPts val="0"/>
              </a:spcAft>
              <a:buNone/>
            </a:pPr>
            <a:r>
              <a:rPr lang="en-US" sz="1500" b="1" dirty="0">
                <a:solidFill>
                  <a:srgbClr val="262626"/>
                </a:solidFill>
                <a:latin typeface="IBM Plex Mono"/>
                <a:ea typeface="IBM Plex Mono"/>
                <a:cs typeface="IBM Plex Mono"/>
              </a:rPr>
              <a:t>IYieldAdapter</a:t>
            </a:r>
            <a:endParaRPr lang="en-US" sz="1500" dirty="0"/>
          </a:p>
          <a:p>
            <a:pPr algn="ctr" marL="0" indent="0">
              <a:spcAft>
                <a:spcPts val="0"/>
              </a:spcAft>
              <a:buNone/>
            </a:pPr>
            <a:r>
              <a:rPr lang="en-US" sz="1200" dirty="0">
                <a:solidFill>
                  <a:srgbClr val="262626"/>
                </a:solidFill>
                <a:latin typeface="IBM Plex Mono"/>
                <a:ea typeface="IBM Plex Mono"/>
                <a:cs typeface="IBM Plex Mono"/>
              </a:rPr>
              <a:t>MUSDSavingsRateAdapter</a:t>
            </a:r>
            <a:endParaRPr lang="en-US" sz="1200" dirty="0"/>
          </a:p>
        </p:txBody>
      </p:sp>
      <p:sp>
        <p:nvSpPr>
          <p:cNvPr id="12" name="AC 106"/>
          <p:cNvSpPr/>
          <p:nvPr/>
        </p:nvSpPr>
        <p:spPr>
          <a:xfrm>
            <a:off x="14127480" y="2697480"/>
            <a:ext cx="2926080" cy="1737360"/>
          </a:xfrm>
          <a:prstGeom prst="roundRect">
            <a:avLst>
              <a:gd name="adj" fmla="val 10000"/>
            </a:avLst>
          </a:prstGeom>
          <a:solidFill>
            <a:srgbClr val="215550"/>
          </a:solidFill>
          <a:ln>
            <a:noFill/>
          </a:ln>
        </p:spPr>
        <p:txBody>
          <a:bodyPr wrap="square" lIns="91440" tIns="45720" rIns="91440" bIns="45720" rtlCol="0" anchor="ctr"/>
          <a:lstStyle/>
          <a:p>
            <a:pPr algn="ctr" marL="0" indent="0">
              <a:spcAft>
                <a:spcPts val="0"/>
              </a:spcAft>
              <a:buNone/>
            </a:pPr>
            <a:r>
              <a:rPr lang="en-US" sz="1900" dirty="0">
                <a:solidFill>
                  <a:srgbClr val="FFFFFF"/>
                </a:solidFill>
                <a:latin typeface="Poppins SemiBold"/>
                <a:ea typeface="Poppins SemiBold"/>
                <a:cs typeface="Poppins SemiBold"/>
              </a:rPr>
              <a:t>sMUSD vault</a:t>
            </a:r>
            <a:endParaRPr lang="en-US" sz="1900" dirty="0"/>
          </a:p>
          <a:p>
            <a:pPr algn="ctr" marL="0" indent="0">
              <a:spcAft>
                <a:spcPts val="0"/>
              </a:spcAft>
              <a:buNone/>
            </a:pPr>
            <a:r>
              <a:rPr lang="en-US" sz="1300" dirty="0">
                <a:solidFill>
                  <a:srgbClr val="D6E6E3"/>
                </a:solidFill>
                <a:latin typeface="Lato"/>
                <a:ea typeface="Lato"/>
                <a:cs typeface="Lato"/>
              </a:rPr>
              <a:t>MUSD Savings Vault</a:t>
            </a:r>
            <a:endParaRPr lang="en-US" sz="1300" dirty="0"/>
          </a:p>
          <a:p>
            <a:pPr algn="ctr" marL="0" indent="0">
              <a:spcAft>
                <a:spcPts val="0"/>
              </a:spcAft>
              <a:buNone/>
            </a:pPr>
            <a:r>
              <a:rPr lang="en-US" sz="1100" dirty="0">
                <a:solidFill>
                  <a:srgbClr val="D6E6E3"/>
                </a:solidFill>
                <a:latin typeface="IBM Plex Mono"/>
                <a:ea typeface="IBM Plex Mono"/>
                <a:cs typeface="IBM Plex Mono"/>
              </a:rPr>
              <a:t>0xb4D4…51CC</a:t>
            </a:r>
            <a:endParaRPr lang="en-US" sz="1100" dirty="0"/>
          </a:p>
        </p:txBody>
      </p:sp>
      <p:sp>
        <p:nvSpPr>
          <p:cNvPr id="13" name="AC 107"/>
          <p:cNvSpPr/>
          <p:nvPr/>
        </p:nvSpPr>
        <p:spPr>
          <a:xfrm>
            <a:off x="5056632" y="3566160"/>
            <a:ext cx="950976" cy="0"/>
          </a:xfrm>
          <a:prstGeom prst="line">
            <a:avLst/>
          </a:prstGeom>
          <a:noFill/>
          <a:ln w="28575">
            <a:solidFill>
              <a:srgbClr val="215550"/>
            </a:solidFill>
            <a:round/>
            <a:tailEnd type="triangle" w="med" len="med"/>
          </a:ln>
        </p:spPr>
        <p:txBody>
          <a:bodyPr wrap="square" lIns="0" tIns="0" rIns="0" bIns="0" rtlCol="0" anchor="t"/>
          <a:lstStyle/>
          <a:p>
            <a:endParaRPr lang="en-US" dirty="0"/>
          </a:p>
        </p:txBody>
      </p:sp>
      <p:sp>
        <p:nvSpPr>
          <p:cNvPr id="14" name="AC 108"/>
          <p:cNvSpPr/>
          <p:nvPr/>
        </p:nvSpPr>
        <p:spPr>
          <a:xfrm>
            <a:off x="4873752" y="3154680"/>
            <a:ext cx="1316736" cy="320040"/>
          </a:xfrm>
          <a:prstGeom prst="rect">
            <a:avLst/>
          </a:prstGeom>
          <a:noFill/>
          <a:ln>
            <a:noFill/>
          </a:ln>
        </p:spPr>
        <p:txBody>
          <a:bodyPr wrap="square" lIns="0" tIns="0" rIns="0" bIns="0" rtlCol="0" anchor="t"/>
          <a:lstStyle/>
          <a:p>
            <a:pPr algn="ctr" marL="0" indent="0">
              <a:spcAft>
                <a:spcPts val="0"/>
              </a:spcAft>
              <a:buNone/>
            </a:pPr>
            <a:r>
              <a:rPr lang="en-US" sz="1100" dirty="0">
                <a:solidFill>
                  <a:srgbClr val="8C8C8C"/>
                </a:solidFill>
                <a:latin typeface="Lato"/>
                <a:ea typeface="Lato"/>
                <a:cs typeface="Lato"/>
              </a:rPr>
              <a:t>MUSD</a:t>
            </a:r>
            <a:endParaRPr lang="en-US" sz="1100" dirty="0"/>
          </a:p>
        </p:txBody>
      </p:sp>
      <p:sp>
        <p:nvSpPr>
          <p:cNvPr id="15" name="AC 109"/>
          <p:cNvSpPr/>
          <p:nvPr/>
        </p:nvSpPr>
        <p:spPr>
          <a:xfrm>
            <a:off x="9079992" y="3566160"/>
            <a:ext cx="950976" cy="0"/>
          </a:xfrm>
          <a:prstGeom prst="line">
            <a:avLst/>
          </a:prstGeom>
          <a:noFill/>
          <a:ln w="28575">
            <a:solidFill>
              <a:srgbClr val="215550"/>
            </a:solidFill>
            <a:round/>
            <a:tailEnd type="triangle" w="med" len="med"/>
          </a:ln>
        </p:spPr>
        <p:txBody>
          <a:bodyPr wrap="square" lIns="0" tIns="0" rIns="0" bIns="0" rtlCol="0" anchor="t"/>
          <a:lstStyle/>
          <a:p>
            <a:endParaRPr lang="en-US" dirty="0"/>
          </a:p>
        </p:txBody>
      </p:sp>
      <p:sp>
        <p:nvSpPr>
          <p:cNvPr id="16" name="AC 110"/>
          <p:cNvSpPr/>
          <p:nvPr/>
        </p:nvSpPr>
        <p:spPr>
          <a:xfrm>
            <a:off x="8897112" y="3154680"/>
            <a:ext cx="1316736" cy="320040"/>
          </a:xfrm>
          <a:prstGeom prst="rect">
            <a:avLst/>
          </a:prstGeom>
          <a:noFill/>
          <a:ln>
            <a:noFill/>
          </a:ln>
        </p:spPr>
        <p:txBody>
          <a:bodyPr wrap="square" lIns="0" tIns="0" rIns="0" bIns="0" rtlCol="0" anchor="t"/>
          <a:lstStyle/>
          <a:p>
            <a:pPr algn="ctr" marL="0" indent="0">
              <a:spcAft>
                <a:spcPts val="0"/>
              </a:spcAft>
              <a:buNone/>
            </a:pPr>
            <a:r>
              <a:rPr lang="en-US" sz="1100" dirty="0">
                <a:solidFill>
                  <a:srgbClr val="8C8C8C"/>
                </a:solidFill>
                <a:latin typeface="Lato"/>
                <a:ea typeface="Lato"/>
                <a:cs typeface="Lato"/>
              </a:rPr>
              <a:t>collateral</a:t>
            </a:r>
            <a:endParaRPr lang="en-US" sz="1100" dirty="0"/>
          </a:p>
        </p:txBody>
      </p:sp>
      <p:sp>
        <p:nvSpPr>
          <p:cNvPr id="17" name="AC 111"/>
          <p:cNvSpPr/>
          <p:nvPr/>
        </p:nvSpPr>
        <p:spPr>
          <a:xfrm>
            <a:off x="13103352" y="3566160"/>
            <a:ext cx="950976" cy="0"/>
          </a:xfrm>
          <a:prstGeom prst="line">
            <a:avLst/>
          </a:prstGeom>
          <a:noFill/>
          <a:ln w="28575">
            <a:solidFill>
              <a:srgbClr val="215550"/>
            </a:solidFill>
            <a:round/>
            <a:tailEnd type="triangle" w="med" len="med"/>
          </a:ln>
        </p:spPr>
        <p:txBody>
          <a:bodyPr wrap="square" lIns="0" tIns="0" rIns="0" bIns="0" rtlCol="0" anchor="t"/>
          <a:lstStyle/>
          <a:p>
            <a:endParaRPr lang="en-US" dirty="0"/>
          </a:p>
        </p:txBody>
      </p:sp>
      <p:sp>
        <p:nvSpPr>
          <p:cNvPr id="18" name="AC 112"/>
          <p:cNvSpPr/>
          <p:nvPr/>
        </p:nvSpPr>
        <p:spPr>
          <a:xfrm>
            <a:off x="12920472" y="3154680"/>
            <a:ext cx="1316736" cy="320040"/>
          </a:xfrm>
          <a:prstGeom prst="rect">
            <a:avLst/>
          </a:prstGeom>
          <a:noFill/>
          <a:ln>
            <a:noFill/>
          </a:ln>
        </p:spPr>
        <p:txBody>
          <a:bodyPr wrap="square" lIns="0" tIns="0" rIns="0" bIns="0" rtlCol="0" anchor="t"/>
          <a:lstStyle/>
          <a:p>
            <a:pPr algn="ctr" marL="0" indent="0">
              <a:spcAft>
                <a:spcPts val="0"/>
              </a:spcAft>
              <a:buNone/>
            </a:pPr>
            <a:r>
              <a:rPr lang="en-US" sz="1100" dirty="0">
                <a:solidFill>
                  <a:srgbClr val="8C8C8C"/>
                </a:solidFill>
                <a:latin typeface="Lato"/>
                <a:ea typeface="Lato"/>
                <a:cs typeface="Lato"/>
              </a:rPr>
              <a:t>deposit</a:t>
            </a:r>
            <a:endParaRPr lang="en-US" sz="1100" dirty="0"/>
          </a:p>
        </p:txBody>
      </p:sp>
      <p:sp>
        <p:nvSpPr>
          <p:cNvPr id="19" name="AC 113"/>
          <p:cNvSpPr/>
          <p:nvPr/>
        </p:nvSpPr>
        <p:spPr>
          <a:xfrm>
            <a:off x="15590520" y="4480560"/>
            <a:ext cx="0" cy="502920"/>
          </a:xfrm>
          <a:prstGeom prst="line">
            <a:avLst/>
          </a:prstGeom>
          <a:noFill/>
          <a:ln w="28575">
            <a:solidFill>
              <a:srgbClr val="F7931A"/>
            </a:solidFill>
            <a:prstDash val="dash"/>
            <a:round/>
          </a:ln>
        </p:spPr>
        <p:txBody>
          <a:bodyPr wrap="square" lIns="0" tIns="0" rIns="0" bIns="0" rtlCol="0" anchor="t"/>
          <a:lstStyle/>
          <a:p>
            <a:endParaRPr lang="en-US" dirty="0"/>
          </a:p>
        </p:txBody>
      </p:sp>
      <p:sp>
        <p:nvSpPr>
          <p:cNvPr id="20" name="AC 114"/>
          <p:cNvSpPr/>
          <p:nvPr/>
        </p:nvSpPr>
        <p:spPr>
          <a:xfrm flipH="1">
            <a:off x="3520440" y="4983480"/>
            <a:ext cx="12070080" cy="0"/>
          </a:xfrm>
          <a:prstGeom prst="line">
            <a:avLst/>
          </a:prstGeom>
          <a:noFill/>
          <a:ln w="28575">
            <a:solidFill>
              <a:srgbClr val="F7931A"/>
            </a:solidFill>
            <a:prstDash val="dash"/>
            <a:round/>
          </a:ln>
        </p:spPr>
        <p:txBody>
          <a:bodyPr wrap="square" lIns="0" tIns="0" rIns="0" bIns="0" rtlCol="0" anchor="t"/>
          <a:lstStyle/>
          <a:p>
            <a:endParaRPr lang="en-US" dirty="0"/>
          </a:p>
        </p:txBody>
      </p:sp>
      <p:sp>
        <p:nvSpPr>
          <p:cNvPr id="21" name="AC 115"/>
          <p:cNvSpPr/>
          <p:nvPr/>
        </p:nvSpPr>
        <p:spPr>
          <a:xfrm flipV="1">
            <a:off x="3520440" y="4507992"/>
            <a:ext cx="0" cy="475488"/>
          </a:xfrm>
          <a:prstGeom prst="line">
            <a:avLst/>
          </a:prstGeom>
          <a:noFill/>
          <a:ln w="28575">
            <a:solidFill>
              <a:srgbClr val="F7931A"/>
            </a:solidFill>
            <a:prstDash val="dash"/>
            <a:round/>
            <a:tailEnd type="triangle" w="med" len="med"/>
          </a:ln>
        </p:spPr>
        <p:txBody>
          <a:bodyPr wrap="square" lIns="0" tIns="0" rIns="0" bIns="0" rtlCol="0" anchor="t"/>
          <a:lstStyle/>
          <a:p>
            <a:endParaRPr lang="en-US" dirty="0"/>
          </a:p>
        </p:txBody>
      </p:sp>
      <p:sp>
        <p:nvSpPr>
          <p:cNvPr id="22" name="AC 116"/>
          <p:cNvSpPr/>
          <p:nvPr/>
        </p:nvSpPr>
        <p:spPr>
          <a:xfrm>
            <a:off x="7612380" y="4791456"/>
            <a:ext cx="4206240" cy="384048"/>
          </a:xfrm>
          <a:prstGeom prst="rect">
            <a:avLst/>
          </a:prstGeom>
          <a:solidFill>
            <a:srgbClr val="FFFFFF"/>
          </a:solidFill>
          <a:ln>
            <a:noFill/>
          </a:ln>
        </p:spPr>
        <p:txBody>
          <a:bodyPr wrap="square" lIns="0" tIns="0" rIns="0" bIns="0" rtlCol="0" anchor="ctr"/>
          <a:lstStyle/>
          <a:p>
            <a:pPr algn="ctr" marL="0" indent="0">
              <a:spcAft>
                <a:spcPts val="0"/>
              </a:spcAft>
              <a:buNone/>
            </a:pPr>
            <a:r>
              <a:rPr lang="en-US" sz="1400" dirty="0">
                <a:solidFill>
                  <a:srgbClr val="215550"/>
                </a:solidFill>
                <a:latin typeface="Poppins SemiBold"/>
                <a:ea typeface="Poppins SemiBold"/>
                <a:cs typeface="Poppins SemiBold"/>
              </a:rPr>
              <a:t>yield back to members at close</a:t>
            </a:r>
            <a:endParaRPr lang="en-US" sz="1400" dirty="0"/>
          </a:p>
        </p:txBody>
      </p:sp>
      <p:sp>
        <p:nvSpPr>
          <p:cNvPr id="23" name="AC 117"/>
          <p:cNvSpPr/>
          <p:nvPr/>
        </p:nvSpPr>
        <p:spPr>
          <a:xfrm>
            <a:off x="2057400" y="5806440"/>
            <a:ext cx="548640" cy="54864"/>
          </a:xfrm>
          <a:prstGeom prst="rect">
            <a:avLst/>
          </a:prstGeom>
          <a:solidFill>
            <a:srgbClr val="F7931A"/>
          </a:solidFill>
          <a:ln>
            <a:noFill/>
          </a:ln>
        </p:spPr>
        <p:txBody>
          <a:bodyPr wrap="square" lIns="0" tIns="0" rIns="0" bIns="0" rtlCol="0" anchor="t"/>
          <a:lstStyle/>
          <a:p>
            <a:endParaRPr lang="en-US" dirty="0"/>
          </a:p>
        </p:txBody>
      </p:sp>
      <p:sp>
        <p:nvSpPr>
          <p:cNvPr id="24" name="AC 118"/>
          <p:cNvSpPr/>
          <p:nvPr/>
        </p:nvSpPr>
        <p:spPr>
          <a:xfrm>
            <a:off x="2057400" y="5943600"/>
            <a:ext cx="484632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Every circle is MUSD demand</a:t>
            </a:r>
            <a:endParaRPr lang="en-US" sz="1800" dirty="0"/>
          </a:p>
        </p:txBody>
      </p:sp>
      <p:sp>
        <p:nvSpPr>
          <p:cNvPr id="25" name="AC 119"/>
          <p:cNvSpPr/>
          <p:nvPr/>
        </p:nvSpPr>
        <p:spPr>
          <a:xfrm>
            <a:off x="2057400" y="6382512"/>
            <a:ext cx="4846320" cy="1737360"/>
          </a:xfrm>
          <a:prstGeom prst="rect">
            <a:avLst/>
          </a:prstGeom>
          <a:noFill/>
          <a:ln>
            <a:noFill/>
          </a:ln>
        </p:spPr>
        <p:txBody>
          <a:bodyPr wrap="square" lIns="0" tIns="0" rIns="0" bIns="0" rtlCol="0" anchor="t"/>
          <a:lstStyle/>
          <a:p>
            <a:pPr algn="l" marL="0" indent="0">
              <a:lnSpc>
                <a:spcPct val="125000"/>
              </a:lnSpc>
              <a:spcAft>
                <a:spcPts val="0"/>
              </a:spcAft>
              <a:buNone/>
            </a:pPr>
            <a:r>
              <a:rPr lang="en-US" sz="1600" dirty="0">
                <a:solidFill>
                  <a:srgbClr val="4D4D4D"/>
                </a:solidFill>
                <a:latin typeface="Lato"/>
                <a:ea typeface="Lato"/>
                <a:cs typeface="Lato"/>
              </a:rPr>
              <a:t>MUSD is the unit for every contribution, pot and collateral deposit, so each circle creates recurring MUSD demand and transfers.</a:t>
            </a:r>
            <a:endParaRPr lang="en-US" sz="1600" dirty="0"/>
          </a:p>
        </p:txBody>
      </p:sp>
      <p:sp>
        <p:nvSpPr>
          <p:cNvPr id="26" name="AC 120"/>
          <p:cNvSpPr/>
          <p:nvPr/>
        </p:nvSpPr>
        <p:spPr>
          <a:xfrm>
            <a:off x="7292340" y="5806440"/>
            <a:ext cx="548640" cy="54864"/>
          </a:xfrm>
          <a:prstGeom prst="rect">
            <a:avLst/>
          </a:prstGeom>
          <a:solidFill>
            <a:srgbClr val="F7931A"/>
          </a:solidFill>
          <a:ln>
            <a:noFill/>
          </a:ln>
        </p:spPr>
        <p:txBody>
          <a:bodyPr wrap="square" lIns="0" tIns="0" rIns="0" bIns="0" rtlCol="0" anchor="t"/>
          <a:lstStyle/>
          <a:p>
            <a:endParaRPr lang="en-US" dirty="0"/>
          </a:p>
        </p:txBody>
      </p:sp>
      <p:sp>
        <p:nvSpPr>
          <p:cNvPr id="27" name="AC 121"/>
          <p:cNvSpPr/>
          <p:nvPr/>
        </p:nvSpPr>
        <p:spPr>
          <a:xfrm>
            <a:off x="7292340" y="5943600"/>
            <a:ext cx="484632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Idle collateral earns</a:t>
            </a:r>
            <a:endParaRPr lang="en-US" sz="1800" dirty="0"/>
          </a:p>
        </p:txBody>
      </p:sp>
      <p:sp>
        <p:nvSpPr>
          <p:cNvPr id="28" name="AC 122"/>
          <p:cNvSpPr/>
          <p:nvPr/>
        </p:nvSpPr>
        <p:spPr>
          <a:xfrm>
            <a:off x="7292340" y="6382512"/>
            <a:ext cx="4846320" cy="1737360"/>
          </a:xfrm>
          <a:prstGeom prst="rect">
            <a:avLst/>
          </a:prstGeom>
          <a:noFill/>
          <a:ln>
            <a:noFill/>
          </a:ln>
        </p:spPr>
        <p:txBody>
          <a:bodyPr wrap="square" lIns="0" tIns="0" rIns="0" bIns="0" rtlCol="0" anchor="t"/>
          <a:lstStyle/>
          <a:p>
            <a:pPr algn="l" marL="0" indent="0">
              <a:lnSpc>
                <a:spcPct val="125000"/>
              </a:lnSpc>
              <a:spcAft>
                <a:spcPts val="0"/>
              </a:spcAft>
              <a:buNone/>
            </a:pPr>
            <a:r>
              <a:rPr lang="en-US" sz="1600" dirty="0">
                <a:solidFill>
                  <a:srgbClr val="4D4D4D"/>
                </a:solidFill>
                <a:latin typeface="Lato"/>
                <a:ea typeface="Lato"/>
                <a:cs typeface="Lato"/>
              </a:rPr>
              <a:t>Idle collateral is routed through </a:t>
            </a:r>
            <a:r>
              <a:rPr lang="en-US" sz="1400" dirty="0">
                <a:solidFill>
                  <a:srgbClr val="4D4D4D"/>
                </a:solidFill>
                <a:latin typeface="IBM Plex Mono"/>
                <a:ea typeface="IBM Plex Mono"/>
                <a:cs typeface="IBM Plex Mono"/>
              </a:rPr>
              <a:t>IYieldAdapter</a:t>
            </a:r>
            <a:r>
              <a:rPr lang="en-US" sz="1600" dirty="0">
                <a:solidFill>
                  <a:srgbClr val="4D4D4D"/>
                </a:solidFill>
                <a:latin typeface="Lato"/>
                <a:ea typeface="Lato"/>
                <a:cs typeface="Lato"/>
              </a:rPr>
              <a:t> to the </a:t>
            </a:r>
            <a:r>
              <a:rPr lang="en-US" sz="1600" dirty="0">
                <a:solidFill>
                  <a:srgbClr val="215550"/>
                </a:solidFill>
                <a:latin typeface="Poppins SemiBold"/>
                <a:ea typeface="Poppins SemiBold"/>
                <a:cs typeface="Poppins SemiBold"/>
              </a:rPr>
              <a:t>MUSD Savings Vault (sMUSD)</a:t>
            </a:r>
            <a:r>
              <a:rPr lang="en-US" sz="1600" dirty="0">
                <a:solidFill>
                  <a:srgbClr val="4D4D4D"/>
                </a:solidFill>
                <a:latin typeface="Lato"/>
                <a:ea typeface="Lato"/>
                <a:cs typeface="Lato"/>
              </a:rPr>
              <a:t>, and yield is shared back to members at close.</a:t>
            </a:r>
            <a:endParaRPr lang="en-US" sz="1600" dirty="0"/>
          </a:p>
        </p:txBody>
      </p:sp>
      <p:sp>
        <p:nvSpPr>
          <p:cNvPr id="29" name="AC 123"/>
          <p:cNvSpPr/>
          <p:nvPr/>
        </p:nvSpPr>
        <p:spPr>
          <a:xfrm>
            <a:off x="12527280" y="5806440"/>
            <a:ext cx="548640" cy="54864"/>
          </a:xfrm>
          <a:prstGeom prst="rect">
            <a:avLst/>
          </a:prstGeom>
          <a:solidFill>
            <a:srgbClr val="F7931A"/>
          </a:solidFill>
          <a:ln>
            <a:noFill/>
          </a:ln>
        </p:spPr>
        <p:txBody>
          <a:bodyPr wrap="square" lIns="0" tIns="0" rIns="0" bIns="0" rtlCol="0" anchor="t"/>
          <a:lstStyle/>
          <a:p>
            <a:endParaRPr lang="en-US" dirty="0"/>
          </a:p>
        </p:txBody>
      </p:sp>
      <p:sp>
        <p:nvSpPr>
          <p:cNvPr id="30" name="AC 124"/>
          <p:cNvSpPr/>
          <p:nvPr/>
        </p:nvSpPr>
        <p:spPr>
          <a:xfrm>
            <a:off x="12527280" y="5943600"/>
            <a:ext cx="4846320" cy="411480"/>
          </a:xfrm>
          <a:prstGeom prst="rect">
            <a:avLst/>
          </a:prstGeom>
          <a:noFill/>
          <a:ln>
            <a:noFill/>
          </a:ln>
        </p:spPr>
        <p:txBody>
          <a:bodyPr wrap="square" lIns="0" tIns="0" rIns="0" bIns="0" rtlCol="0" anchor="t"/>
          <a:lstStyle/>
          <a:p>
            <a:pPr algn="l" marL="0" indent="0">
              <a:spcAft>
                <a:spcPts val="0"/>
              </a:spcAft>
              <a:buNone/>
            </a:pPr>
            <a:r>
              <a:rPr lang="en-US" sz="1800" dirty="0">
                <a:solidFill>
                  <a:srgbClr val="215550"/>
                </a:solidFill>
                <a:latin typeface="Poppins SemiBold"/>
                <a:ea typeface="Poppins SemiBold"/>
                <a:cs typeface="Poppins SemiBold"/>
              </a:rPr>
              <a:t>Safe by design</a:t>
            </a:r>
            <a:endParaRPr lang="en-US" sz="1800" dirty="0"/>
          </a:p>
        </p:txBody>
      </p:sp>
      <p:sp>
        <p:nvSpPr>
          <p:cNvPr id="31" name="AC 125"/>
          <p:cNvSpPr/>
          <p:nvPr/>
        </p:nvSpPr>
        <p:spPr>
          <a:xfrm>
            <a:off x="12527280" y="6382512"/>
            <a:ext cx="4846320" cy="1737360"/>
          </a:xfrm>
          <a:prstGeom prst="rect">
            <a:avLst/>
          </a:prstGeom>
          <a:noFill/>
          <a:ln>
            <a:noFill/>
          </a:ln>
        </p:spPr>
        <p:txBody>
          <a:bodyPr wrap="square" lIns="0" tIns="0" rIns="0" bIns="0" rtlCol="0" anchor="t"/>
          <a:lstStyle/>
          <a:p>
            <a:pPr algn="l" marL="0" indent="0">
              <a:lnSpc>
                <a:spcPct val="125000"/>
              </a:lnSpc>
              <a:spcAft>
                <a:spcPts val="0"/>
              </a:spcAft>
              <a:buNone/>
            </a:pPr>
            <a:r>
              <a:rPr lang="en-US" sz="1600" dirty="0">
                <a:solidFill>
                  <a:srgbClr val="4D4D4D"/>
                </a:solidFill>
                <a:latin typeface="Lato"/>
                <a:ea typeface="Lato"/>
                <a:cs typeface="Lato"/>
              </a:rPr>
              <a:t>The pot is never routed, so payouts are never delayed, and a principal shortfall reverts.</a:t>
            </a:r>
            <a:endParaRPr lang="en-US" sz="1600" dirty="0"/>
          </a:p>
        </p:txBody>
      </p:sp>
      <p:sp>
        <p:nvSpPr>
          <p:cNvPr id="32" name="AC 126"/>
          <p:cNvSpPr/>
          <p:nvPr/>
        </p:nvSpPr>
        <p:spPr>
          <a:xfrm>
            <a:off x="2057400" y="8183880"/>
            <a:ext cx="15316200" cy="731520"/>
          </a:xfrm>
          <a:prstGeom prst="roundRect">
            <a:avLst>
              <a:gd name="adj" fmla="val 50000"/>
            </a:avLst>
          </a:prstGeom>
          <a:solidFill>
            <a:srgbClr val="215550"/>
          </a:solidFill>
          <a:ln>
            <a:noFill/>
          </a:ln>
        </p:spPr>
        <p:txBody>
          <a:bodyPr wrap="square" lIns="0" tIns="0" rIns="0" bIns="0" rtlCol="0" anchor="ctr"/>
          <a:lstStyle/>
          <a:p>
            <a:pPr algn="ctr" marL="0" indent="0">
              <a:spcAft>
                <a:spcPts val="0"/>
              </a:spcAft>
              <a:buNone/>
            </a:pPr>
            <a:r>
              <a:rPr lang="en-US" sz="1700" dirty="0">
                <a:solidFill>
                  <a:srgbClr val="FFFFFF"/>
                </a:solidFill>
                <a:latin typeface="Poppins SemiBold"/>
                <a:ea typeface="Poppins SemiBold"/>
                <a:cs typeface="Poppins SemiBold"/>
              </a:rPr>
              <a:t>Testnet: native MUSD; mainnet: sMUSD yield adapter (fork-tested)</a:t>
            </a:r>
            <a:endParaRPr lang="en-US" sz="1700" dirty="0"/>
          </a:p>
        </p:txBody>
      </p:sp>
      <p:sp>
        <p:nvSpPr>
          <p:cNvPr id="33" name="AC 127"/>
          <p:cNvSpPr/>
          <p:nvPr/>
        </p:nvSpPr>
        <p:spPr>
          <a:xfrm>
            <a:off x="2331720" y="8439912"/>
            <a:ext cx="219456" cy="219456"/>
          </a:xfrm>
          <a:prstGeom prst="ellipse">
            <a:avLst/>
          </a:prstGeom>
          <a:solidFill>
            <a:srgbClr val="F7931A"/>
          </a:solidFill>
          <a:ln>
            <a:noFill/>
          </a:ln>
        </p:spPr>
        <p:txBody>
          <a:bodyPr wrap="square" lIns="0" tIns="0" rIns="0" bIns="0" rtlCol="0" anchor="t"/>
          <a:lstStyle/>
          <a:p>
            <a:endParaRPr lang="en-US" dirty="0"/>
          </a:p>
        </p:txBody>
      </p:sp>
      <p:sp>
        <p:nvSpPr>
          <p:cNvPr id="34" name="AC mark ring"/>
          <p:cNvSpPr/>
          <p:nvPr/>
        </p:nvSpPr>
        <p:spPr>
          <a:xfrm>
            <a:off x="548640" y="548640"/>
            <a:ext cx="274320" cy="274320"/>
          </a:xfrm>
          <a:prstGeom prst="ellipse">
            <a:avLst/>
          </a:prstGeom>
          <a:noFill/>
          <a:ln w="31750">
            <a:solidFill>
              <a:srgbClr val="F7931A"/>
            </a:solidFill>
            <a:round/>
          </a:ln>
        </p:spPr>
        <p:txBody>
          <a:bodyPr wrap="square" lIns="0" tIns="0" rIns="0" bIns="0" rtlCol="0" anchor="t"/>
          <a:lstStyle/>
          <a:p>
            <a:endParaRPr lang="en-US" dirty="0"/>
          </a:p>
        </p:txBody>
      </p:sp>
      <p:sp>
        <p:nvSpPr>
          <p:cNvPr id="35" name="AC mark dot"/>
          <p:cNvSpPr/>
          <p:nvPr/>
        </p:nvSpPr>
        <p:spPr>
          <a:xfrm>
            <a:off x="644652" y="644652"/>
            <a:ext cx="82296" cy="82296"/>
          </a:xfrm>
          <a:prstGeom prst="ellipse">
            <a:avLst/>
          </a:prstGeom>
          <a:solidFill>
            <a:srgbClr val="F7931A"/>
          </a:solidFill>
          <a:ln>
            <a:noFill/>
          </a:ln>
        </p:spPr>
        <p:txBody>
          <a:bodyPr wrap="square" lIns="0" tIns="0" rIns="0" bIns="0" rtlCol="0" anchor="t"/>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Agriculture Presentation</dc:title>
  <dc:subject>PptxGenJS Presentation</dc:subject>
  <dc:creator>Plantae</dc:creator>
  <cp:lastModifiedBy>Plantae</cp:lastModifiedBy>
  <cp:revision>1</cp:revision>
  <dcterms:created xsi:type="dcterms:W3CDTF">2026-10-24T08:52:11Z</dcterms:created>
  <dcterms:modified xsi:type="dcterms:W3CDTF">2026-10-24T08:52:11Z</dcterms:modified>
</cp:coreProperties>
</file>